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  <p:sldMasterId id="2147483672" r:id="rId2"/>
  </p:sldMasterIdLst>
  <p:sldIdLst>
    <p:sldId id="256" r:id="rId3"/>
    <p:sldId id="265" r:id="rId4"/>
    <p:sldId id="266" r:id="rId5"/>
    <p:sldId id="268" r:id="rId6"/>
    <p:sldId id="267" r:id="rId7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0F26"/>
    <a:srgbClr val="2D2050"/>
    <a:srgbClr val="3425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92CE12-A530-FFAE-0F18-F72A9DED7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1788DEB2-CF04-2E23-E0DC-7D97D0252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7ACD0C5-3C74-6952-603C-4ADDB7AA8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076FD-C309-4869-A30F-E68948E50F29}" type="datetimeFigureOut">
              <a:rPr lang="he-IL" smtClean="0"/>
              <a:t>י"ג/תמוז/תשפ"ו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4DFF5E8-1F54-3331-5C41-37590AB1D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FA3D674-039E-65A4-94B9-3E562A542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C8BF1-CA81-443E-88AD-5D31E8975A9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94126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043CEDD-2BF8-C5DA-4A42-73638C9FE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50AAD06-91B6-81E1-C130-D44A27AD2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20BB6DD-16C7-6FF3-1151-4F83DF167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076FD-C309-4869-A30F-E68948E50F29}" type="datetimeFigureOut">
              <a:rPr lang="he-IL" smtClean="0"/>
              <a:t>י"ג/תמוז/תשפ"ו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1EAA6DA-4430-FF20-43A3-4F3F7492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F409BA7-9750-8C5F-9B16-15339E9A2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C8BF1-CA81-443E-88AD-5D31E8975A9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65257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09E8201-002C-C691-8F3F-0318E8E36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7850810-E39F-7E7B-A72B-CFED12764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7FB50A3-1FB6-F6E8-8D57-23135A513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076FD-C309-4869-A30F-E68948E50F29}" type="datetimeFigureOut">
              <a:rPr lang="he-IL" smtClean="0"/>
              <a:t>י"ג/תמוז/תשפ"ו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FA3126C-3734-20D9-6011-D17090627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B4DE529-A57C-F851-F394-769987935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C8BF1-CA81-443E-88AD-5D31E8975A9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04802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0081E3F-1E76-D5C0-0DD4-5B365DD1A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B6810BD-20E0-AF1C-5BDA-F0760A6483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0BD509A-D591-DC38-25B0-460125F6F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A74454D-2941-A620-C4DE-5883C9ED7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076FD-C309-4869-A30F-E68948E50F29}" type="datetimeFigureOut">
              <a:rPr lang="he-IL" smtClean="0"/>
              <a:t>י"ג/תמוז/תשפ"ו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7A9F0A7-0FB9-204D-8AB6-D26736169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66F569A-826A-0194-FEE9-5F6A0C97B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C8BF1-CA81-443E-88AD-5D31E8975A9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18080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BE8A40F-0C9D-951E-872D-FE901F43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A56F661-53D0-CFC5-24BA-8AB601492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2C58768-9E8D-4E65-6F0E-E7FF5ECA43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43761C1F-A50A-1E18-A8E4-C0790D14ED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883EAF8A-A001-75A2-D132-68E1A8CADC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E20DDFAB-7481-296C-6096-2C9C39EEE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076FD-C309-4869-A30F-E68948E50F29}" type="datetimeFigureOut">
              <a:rPr lang="he-IL" smtClean="0"/>
              <a:t>י"ג/תמוז/תשפ"ו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119CCF7F-BBD4-EC50-8F0E-942C4BF5D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90B611E0-E2E5-FD89-8A75-6D775669A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C8BF1-CA81-443E-88AD-5D31E8975A9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61235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E11CD26-BF73-C387-005A-0F0644A17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292F3067-E42F-FCBE-6451-A0B898DDE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076FD-C309-4869-A30F-E68948E50F29}" type="datetimeFigureOut">
              <a:rPr lang="he-IL" smtClean="0"/>
              <a:t>י"ג/תמוז/תשפ"ו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E267BCD0-FD33-4539-09AD-5EB623B34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7B41B1FA-1C1B-07C5-BF2B-F8ADF5951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C8BF1-CA81-443E-88AD-5D31E8975A9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52757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C05A1BC8-053B-7041-EC78-976DC45A3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076FD-C309-4869-A30F-E68948E50F29}" type="datetimeFigureOut">
              <a:rPr lang="he-IL" smtClean="0"/>
              <a:t>י"ג/תמוז/תשפ"ו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B8E2CE57-9C2E-5CAC-D63B-1D3E39ECD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30847FC-B13D-3795-825B-C25AB5679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C8BF1-CA81-443E-88AD-5D31E8975A9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09588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4BCD1B1-7FED-773B-BD40-57ABFA7F7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522E4AA-74C0-B4F1-785D-248F2E9F8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4FD6B50D-6901-0F03-75E8-EDDF4A1BE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0C362AE-AE35-DE9B-3584-F684AFA7F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076FD-C309-4869-A30F-E68948E50F29}" type="datetimeFigureOut">
              <a:rPr lang="he-IL" smtClean="0"/>
              <a:t>י"ג/תמוז/תשפ"ו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6C8FDEE-0CC2-4C2B-CA3C-2DDAAE719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73AA38F-D8F2-4C38-C0F3-D383FFD16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C8BF1-CA81-443E-88AD-5D31E8975A9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5748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70048B8-9487-E722-7A8B-DD61007AC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BE3E570-2BE7-2426-90C0-4B2E3161D7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990A08C-04F9-1FB6-9EFE-D8FE82A3F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993E10D-8778-32A6-F464-576B4E7A2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076FD-C309-4869-A30F-E68948E50F29}" type="datetimeFigureOut">
              <a:rPr lang="he-IL" smtClean="0"/>
              <a:t>י"ג/תמוז/תשפ"ו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D18B380-6C02-59BC-3451-20D07E193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4051ED5-2AE2-7016-6411-1C3E8DEE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C8BF1-CA81-443E-88AD-5D31E8975A9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36786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A1CECAC-DA3A-4A26-0B04-739BADDA9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46816E0-A1C8-66DF-6079-78CCEC58B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48D25DD-5436-2816-81D8-6428EB9DF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076FD-C309-4869-A30F-E68948E50F29}" type="datetimeFigureOut">
              <a:rPr lang="he-IL" smtClean="0"/>
              <a:t>י"ג/תמוז/תשפ"ו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8D3650D-CE22-5FC8-E685-891F51C9D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9EF40DD-BF23-CFF0-7BCC-52565321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C8BF1-CA81-443E-88AD-5D31E8975A9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17683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B2B66D0A-296E-521B-39EB-077B3B969A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6ACC370-9754-E835-1688-C67FFEFBB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1E24F8B-DD74-4C8D-4A65-1EBE0F6E6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076FD-C309-4869-A30F-E68948E50F29}" type="datetimeFigureOut">
              <a:rPr lang="he-IL" smtClean="0"/>
              <a:t>י"ג/תמוז/תשפ"ו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0BEF517-EF02-0FE9-9BAC-A82C46CA8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D2E3524-3E3B-2513-638E-37197C73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C8BF1-CA81-443E-88AD-5D31E8975A9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73771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076FD-C309-4869-A30F-E68948E50F29}" type="datetimeFigureOut">
              <a:rPr lang="he-IL" smtClean="0"/>
              <a:t>י"ג/תמוז/תשפ"ו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C8BF1-CA81-443E-88AD-5D31E8975A9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66100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076FD-C309-4869-A30F-E68948E50F29}" type="datetimeFigureOut">
              <a:rPr lang="he-IL" smtClean="0"/>
              <a:t>י"ג/תמוז/תשפ"ו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C8BF1-CA81-443E-88AD-5D31E8975A9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744992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076FD-C309-4869-A30F-E68948E50F29}" type="datetimeFigureOut">
              <a:rPr lang="he-IL" smtClean="0"/>
              <a:t>י"ג/תמוז/תשפ"ו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C8BF1-CA81-443E-88AD-5D31E8975A9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730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076FD-C309-4869-A30F-E68948E50F29}" type="datetimeFigureOut">
              <a:rPr lang="he-IL" smtClean="0"/>
              <a:t>י"ג/תמוז/תשפ"ו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C8BF1-CA81-443E-88AD-5D31E8975A9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35451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076FD-C309-4869-A30F-E68948E50F29}" type="datetimeFigureOut">
              <a:rPr lang="he-IL" smtClean="0"/>
              <a:t>י"ג/תמוז/תשפ"ו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C8BF1-CA81-443E-88AD-5D31E8975A9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118155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076FD-C309-4869-A30F-E68948E50F29}" type="datetimeFigureOut">
              <a:rPr lang="he-IL" smtClean="0"/>
              <a:t>י"ג/תמוז/תשפ"ו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C8BF1-CA81-443E-88AD-5D31E8975A9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627897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076FD-C309-4869-A30F-E68948E50F29}" type="datetimeFigureOut">
              <a:rPr lang="he-IL" smtClean="0"/>
              <a:t>י"ג/תמוז/תשפ"ו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C8BF1-CA81-443E-88AD-5D31E8975A9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822677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076FD-C309-4869-A30F-E68948E50F29}" type="datetimeFigureOut">
              <a:rPr lang="he-IL" smtClean="0"/>
              <a:t>י"ג/תמוז/תשפ"ו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C8BF1-CA81-443E-88AD-5D31E8975A9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977878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076FD-C309-4869-A30F-E68948E50F29}" type="datetimeFigureOut">
              <a:rPr lang="he-IL" smtClean="0"/>
              <a:t>י"ג/תמוז/תשפ"ו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C8BF1-CA81-443E-88AD-5D31E8975A9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106232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076FD-C309-4869-A30F-E68948E50F29}" type="datetimeFigureOut">
              <a:rPr lang="he-IL" smtClean="0"/>
              <a:t>י"ג/תמוז/תשפ"ו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C8BF1-CA81-443E-88AD-5D31E8975A9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313266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076FD-C309-4869-A30F-E68948E50F29}" type="datetimeFigureOut">
              <a:rPr lang="he-IL" smtClean="0"/>
              <a:t>י"ג/תמוז/תשפ"ו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C8BF1-CA81-443E-88AD-5D31E8975A9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44314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43EC3F1F-7FE5-3DAD-16E9-C1A00A94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92A2FC6-37F0-CAE0-F886-AABB7B8EB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51E9524-9D4A-824A-2DA0-414653172A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2076FD-C309-4869-A30F-E68948E50F29}" type="datetimeFigureOut">
              <a:rPr lang="he-IL" smtClean="0"/>
              <a:t>י"ג/תמוז/תשפ"ו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946E668-F251-E366-00D9-1DD3BED572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4DC2DFC-5675-1BA2-F3C3-E5AA9B962E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0C8BF1-CA81-443E-88AD-5D31E8975A9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61466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02076FD-C309-4869-A30F-E68948E50F29}" type="datetimeFigureOut">
              <a:rPr lang="he-IL" smtClean="0"/>
              <a:t>י"ג/תמוז/תשפ"ו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30C8BF1-CA81-443E-88AD-5D31E8975A9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555656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11" Type="http://schemas.openxmlformats.org/officeDocument/2006/relationships/image" Target="../media/image13.svg"/><Relationship Id="rId5" Type="http://schemas.openxmlformats.org/officeDocument/2006/relationships/image" Target="../media/image5.sv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11" Type="http://schemas.openxmlformats.org/officeDocument/2006/relationships/image" Target="../media/image13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1E3FF4DF-8DAA-A6F6-C511-CEFD849CB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217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מלבן: פינות מעוגלות 75">
            <a:extLst>
              <a:ext uri="{FF2B5EF4-FFF2-40B4-BE49-F238E27FC236}">
                <a16:creationId xmlns:a16="http://schemas.microsoft.com/office/drawing/2014/main" id="{D3FAF2F3-A1CD-CFD3-75E8-AD9E6338EF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51000" y="298450"/>
            <a:ext cx="10414000" cy="6438900"/>
          </a:xfrm>
          <a:prstGeom prst="roundRect">
            <a:avLst>
              <a:gd name="adj" fmla="val 5414"/>
            </a:avLst>
          </a:prstGeom>
          <a:solidFill>
            <a:srgbClr val="150F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74560704-8EB1-4C54-87DA-25C4F2857606}"/>
              </a:ext>
            </a:extLst>
          </p:cNvPr>
          <p:cNvSpPr/>
          <p:nvPr/>
        </p:nvSpPr>
        <p:spPr>
          <a:xfrm>
            <a:off x="0" y="0"/>
            <a:ext cx="12179300" cy="190500"/>
          </a:xfrm>
          <a:prstGeom prst="rect">
            <a:avLst/>
          </a:prstGeom>
          <a:solidFill>
            <a:srgbClr val="08051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FC332BF8-7C47-486A-81EC-90664846F583}"/>
              </a:ext>
            </a:extLst>
          </p:cNvPr>
          <p:cNvSpPr txBox="1"/>
          <p:nvPr/>
        </p:nvSpPr>
        <p:spPr>
          <a:xfrm>
            <a:off x="0" y="-794"/>
            <a:ext cx="1202531" cy="1651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he-IL" sz="800" dirty="0">
                <a:solidFill>
                  <a:srgbClr val="C9C2D6"/>
                </a:solidFill>
              </a:rPr>
              <a:t>מנהל התרגומים הרשמי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A375D107-9AEF-4B17-89BE-D36272EE6958}"/>
              </a:ext>
            </a:extLst>
          </p:cNvPr>
          <p:cNvSpPr txBox="1"/>
          <p:nvPr/>
        </p:nvSpPr>
        <p:spPr>
          <a:xfrm>
            <a:off x="11416506" y="0"/>
            <a:ext cx="788987" cy="1651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800" dirty="0">
                <a:solidFill>
                  <a:srgbClr val="9A93AB"/>
                </a:solidFill>
              </a:rPr>
              <a:t>✕   ☐   ─</a:t>
            </a:r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7EC29D92-B921-4A27-8983-10BB222A1E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000" y="284956"/>
            <a:ext cx="1422400" cy="6438900"/>
          </a:xfrm>
          <a:prstGeom prst="roundRect">
            <a:avLst>
              <a:gd name="adj" fmla="val 20306"/>
            </a:avLst>
          </a:prstGeom>
          <a:solidFill>
            <a:srgbClr val="150F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r" rtl="0"/>
            <a:endParaRPr lang="he-IL" dirty="0"/>
          </a:p>
        </p:txBody>
      </p:sp>
      <p:sp>
        <p:nvSpPr>
          <p:cNvPr id="7" name="אליפסה 6">
            <a:extLst>
              <a:ext uri="{FF2B5EF4-FFF2-40B4-BE49-F238E27FC236}">
                <a16:creationId xmlns:a16="http://schemas.microsoft.com/office/drawing/2014/main" id="{7ACF2BB7-5667-40A2-99D2-5FEB80870319}"/>
              </a:ext>
            </a:extLst>
          </p:cNvPr>
          <p:cNvSpPr/>
          <p:nvPr/>
        </p:nvSpPr>
        <p:spPr>
          <a:xfrm>
            <a:off x="393700" y="406400"/>
            <a:ext cx="393700" cy="393700"/>
          </a:xfrm>
          <a:prstGeom prst="ellipse">
            <a:avLst/>
          </a:prstGeom>
          <a:solidFill>
            <a:srgbClr val="1E1838"/>
          </a:solidFill>
          <a:ln w="19050" cap="flat" cmpd="sng" algn="ctr">
            <a:solidFill>
              <a:srgbClr val="13B5A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2B92F8D4-7196-4ED7-880E-58AB9F32D8D0}"/>
              </a:ext>
            </a:extLst>
          </p:cNvPr>
          <p:cNvSpPr txBox="1"/>
          <p:nvPr/>
        </p:nvSpPr>
        <p:spPr>
          <a:xfrm>
            <a:off x="825500" y="431800"/>
            <a:ext cx="660400" cy="1524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he-IL" sz="800" b="1">
                <a:solidFill>
                  <a:srgbClr val="FFFFFF"/>
                </a:solidFill>
              </a:rPr>
              <a:t>פרויקט התרגום</a:t>
            </a: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B68EAA7F-89C2-4083-85E1-3542A7FBAE57}"/>
              </a:ext>
            </a:extLst>
          </p:cNvPr>
          <p:cNvSpPr txBox="1"/>
          <p:nvPr/>
        </p:nvSpPr>
        <p:spPr>
          <a:xfrm>
            <a:off x="825500" y="584200"/>
            <a:ext cx="660400" cy="1143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600" b="1">
                <a:solidFill>
                  <a:srgbClr val="13B5A6"/>
                </a:solidFill>
              </a:rPr>
              <a:t>HEBREW AI</a:t>
            </a:r>
            <a:endParaRPr lang="he-IL" sz="600" b="1">
              <a:solidFill>
                <a:srgbClr val="13B5A6"/>
              </a:solidFill>
            </a:endParaRP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93E411EF-F862-4E81-8F33-81AF5CBB358F}"/>
              </a:ext>
            </a:extLst>
          </p:cNvPr>
          <p:cNvSpPr/>
          <p:nvPr/>
        </p:nvSpPr>
        <p:spPr>
          <a:xfrm>
            <a:off x="203200" y="1193800"/>
            <a:ext cx="1295400" cy="254000"/>
          </a:xfrm>
          <a:prstGeom prst="roundRect">
            <a:avLst/>
          </a:prstGeom>
          <a:solidFill>
            <a:srgbClr val="261C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 dirty="0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13A215F6-C941-4BBA-9CAD-E135D0860571}"/>
              </a:ext>
            </a:extLst>
          </p:cNvPr>
          <p:cNvSpPr/>
          <p:nvPr/>
        </p:nvSpPr>
        <p:spPr>
          <a:xfrm>
            <a:off x="1473995" y="1206500"/>
            <a:ext cx="25400" cy="215900"/>
          </a:xfrm>
          <a:prstGeom prst="rect">
            <a:avLst/>
          </a:prstGeom>
          <a:solidFill>
            <a:srgbClr val="F4D70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DC5EBE6B-687E-46A7-A7C6-54871A2C7D75}"/>
              </a:ext>
            </a:extLst>
          </p:cNvPr>
          <p:cNvSpPr txBox="1"/>
          <p:nvPr/>
        </p:nvSpPr>
        <p:spPr>
          <a:xfrm>
            <a:off x="520700" y="889000"/>
            <a:ext cx="901700" cy="1905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900" dirty="0">
                <a:solidFill>
                  <a:srgbClr val="C2BBD2"/>
                </a:solidFill>
              </a:rPr>
              <a:t>דף הבית</a:t>
            </a: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35751BBB-BF27-414E-83FC-E23731965DD3}"/>
              </a:ext>
            </a:extLst>
          </p:cNvPr>
          <p:cNvSpPr txBox="1"/>
          <p:nvPr/>
        </p:nvSpPr>
        <p:spPr>
          <a:xfrm>
            <a:off x="520700" y="1210733"/>
            <a:ext cx="901700" cy="1905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900" b="1">
                <a:solidFill>
                  <a:srgbClr val="FFFFFF"/>
                </a:solidFill>
              </a:rPr>
              <a:t>ספרייה</a:t>
            </a: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CE253286-92D3-44A9-B7BA-F201275C32D0}"/>
              </a:ext>
            </a:extLst>
          </p:cNvPr>
          <p:cNvSpPr txBox="1"/>
          <p:nvPr/>
        </p:nvSpPr>
        <p:spPr>
          <a:xfrm>
            <a:off x="304800" y="1532466"/>
            <a:ext cx="1104900" cy="1905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900" dirty="0">
                <a:solidFill>
                  <a:srgbClr val="C2BBD2"/>
                </a:solidFill>
              </a:rPr>
              <a:t>הורדות ועדכונים</a:t>
            </a: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20770CBE-8154-4B1E-A761-2354E1EA65AB}"/>
              </a:ext>
            </a:extLst>
          </p:cNvPr>
          <p:cNvSpPr txBox="1"/>
          <p:nvPr/>
        </p:nvSpPr>
        <p:spPr>
          <a:xfrm>
            <a:off x="520700" y="1854200"/>
            <a:ext cx="901700" cy="1905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900">
                <a:solidFill>
                  <a:srgbClr val="C2BBD2"/>
                </a:solidFill>
              </a:rPr>
              <a:t>אזור אישי</a:t>
            </a:r>
          </a:p>
        </p:txBody>
      </p:sp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70905588-EDC1-44EA-BF86-8B6894DF3879}"/>
              </a:ext>
            </a:extLst>
          </p:cNvPr>
          <p:cNvSpPr/>
          <p:nvPr/>
        </p:nvSpPr>
        <p:spPr>
          <a:xfrm>
            <a:off x="190500" y="5562600"/>
            <a:ext cx="1333500" cy="355600"/>
          </a:xfrm>
          <a:prstGeom prst="roundRect">
            <a:avLst>
              <a:gd name="adj" fmla="val 26712"/>
            </a:avLst>
          </a:prstGeom>
          <a:solidFill>
            <a:srgbClr val="1C1530"/>
          </a:solidFill>
          <a:ln w="12700" cap="flat" cmpd="sng" algn="ctr">
            <a:solidFill>
              <a:srgbClr val="2C24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7" name="אליפסה 16">
            <a:extLst>
              <a:ext uri="{FF2B5EF4-FFF2-40B4-BE49-F238E27FC236}">
                <a16:creationId xmlns:a16="http://schemas.microsoft.com/office/drawing/2014/main" id="{E105417C-FA1B-4EE4-8883-4779ECBFB46A}"/>
              </a:ext>
            </a:extLst>
          </p:cNvPr>
          <p:cNvSpPr/>
          <p:nvPr/>
        </p:nvSpPr>
        <p:spPr>
          <a:xfrm>
            <a:off x="1270000" y="5613400"/>
            <a:ext cx="241300" cy="241300"/>
          </a:xfrm>
          <a:prstGeom prst="ellipse">
            <a:avLst/>
          </a:prstGeom>
          <a:solidFill>
            <a:srgbClr val="3A2E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9" name="מלבן: פינות מעוגלות 18">
            <a:extLst>
              <a:ext uri="{FF2B5EF4-FFF2-40B4-BE49-F238E27FC236}">
                <a16:creationId xmlns:a16="http://schemas.microsoft.com/office/drawing/2014/main" id="{5C839C40-AFF3-4625-A9BB-902E45DA7A70}"/>
              </a:ext>
            </a:extLst>
          </p:cNvPr>
          <p:cNvSpPr/>
          <p:nvPr/>
        </p:nvSpPr>
        <p:spPr>
          <a:xfrm>
            <a:off x="225424" y="5689600"/>
            <a:ext cx="315120" cy="88900"/>
          </a:xfrm>
          <a:prstGeom prst="roundRect">
            <a:avLst>
              <a:gd name="adj" fmla="val 35417"/>
            </a:avLst>
          </a:prstGeom>
          <a:solidFill>
            <a:srgbClr val="7A22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32" name="מלבן: פינות מעוגלות 31">
            <a:extLst>
              <a:ext uri="{FF2B5EF4-FFF2-40B4-BE49-F238E27FC236}">
                <a16:creationId xmlns:a16="http://schemas.microsoft.com/office/drawing/2014/main" id="{55D43543-38E7-A37B-AA90-D5436362DFD8}"/>
              </a:ext>
            </a:extLst>
          </p:cNvPr>
          <p:cNvSpPr/>
          <p:nvPr/>
        </p:nvSpPr>
        <p:spPr>
          <a:xfrm>
            <a:off x="523292" y="6025612"/>
            <a:ext cx="990600" cy="412750"/>
          </a:xfrm>
          <a:prstGeom prst="roundRect">
            <a:avLst>
              <a:gd name="adj" fmla="val 26712"/>
            </a:avLst>
          </a:prstGeom>
          <a:solidFill>
            <a:srgbClr val="1C1530"/>
          </a:solidFill>
          <a:ln w="12700" cap="flat" cmpd="sng" algn="ctr">
            <a:solidFill>
              <a:srgbClr val="2C24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5891842A-E6D8-411D-85C7-B727B99ECD82}"/>
              </a:ext>
            </a:extLst>
          </p:cNvPr>
          <p:cNvSpPr txBox="1"/>
          <p:nvPr/>
        </p:nvSpPr>
        <p:spPr>
          <a:xfrm>
            <a:off x="214312" y="5676900"/>
            <a:ext cx="358775" cy="1016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he-IL" sz="600" dirty="0">
                <a:solidFill>
                  <a:srgbClr val="E89AA6"/>
                </a:solidFill>
              </a:rPr>
              <a:t>יציאה</a:t>
            </a:r>
          </a:p>
        </p:txBody>
      </p:sp>
      <p:sp>
        <p:nvSpPr>
          <p:cNvPr id="23" name="תיבת טקסט 22">
            <a:extLst>
              <a:ext uri="{FF2B5EF4-FFF2-40B4-BE49-F238E27FC236}">
                <a16:creationId xmlns:a16="http://schemas.microsoft.com/office/drawing/2014/main" id="{607B8E9A-EB01-4AA4-932B-56DF6918DBF0}"/>
              </a:ext>
            </a:extLst>
          </p:cNvPr>
          <p:cNvSpPr txBox="1"/>
          <p:nvPr/>
        </p:nvSpPr>
        <p:spPr>
          <a:xfrm>
            <a:off x="857250" y="6210300"/>
            <a:ext cx="825500" cy="1270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he-IL" sz="600" dirty="0">
                <a:solidFill>
                  <a:srgbClr val="D6FFF9"/>
                </a:solidFill>
              </a:rPr>
              <a:t>נתונים נוספים</a:t>
            </a:r>
          </a:p>
        </p:txBody>
      </p:sp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5938ED61-EEE8-4E13-9344-80ECF06DC4CE}"/>
              </a:ext>
            </a:extLst>
          </p:cNvPr>
          <p:cNvSpPr txBox="1"/>
          <p:nvPr/>
        </p:nvSpPr>
        <p:spPr>
          <a:xfrm>
            <a:off x="190500" y="6502400"/>
            <a:ext cx="1333500" cy="1143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600">
                <a:solidFill>
                  <a:srgbClr val="7A7290"/>
                </a:solidFill>
              </a:rPr>
              <a:t>v1.0.0-dev.6  © 2026</a:t>
            </a:r>
            <a:endParaRPr lang="he-IL" sz="600">
              <a:solidFill>
                <a:srgbClr val="7A7290"/>
              </a:solidFill>
            </a:endParaRPr>
          </a:p>
        </p:txBody>
      </p:sp>
      <p:sp>
        <p:nvSpPr>
          <p:cNvPr id="49" name="תיבת טקסט 48">
            <a:extLst>
              <a:ext uri="{FF2B5EF4-FFF2-40B4-BE49-F238E27FC236}">
                <a16:creationId xmlns:a16="http://schemas.microsoft.com/office/drawing/2014/main" id="{7F15226F-4A24-414A-90AA-68236EEB1D86}"/>
              </a:ext>
            </a:extLst>
          </p:cNvPr>
          <p:cNvSpPr txBox="1"/>
          <p:nvPr/>
        </p:nvSpPr>
        <p:spPr>
          <a:xfrm>
            <a:off x="10926365" y="396875"/>
            <a:ext cx="880269" cy="1524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800" dirty="0">
                <a:solidFill>
                  <a:srgbClr val="B9B2C9"/>
                </a:solidFill>
              </a:rPr>
              <a:t>← חזרה לספרייה</a:t>
            </a:r>
          </a:p>
        </p:txBody>
      </p:sp>
      <p:sp>
        <p:nvSpPr>
          <p:cNvPr id="50" name="תיבת טקסט 49">
            <a:extLst>
              <a:ext uri="{FF2B5EF4-FFF2-40B4-BE49-F238E27FC236}">
                <a16:creationId xmlns:a16="http://schemas.microsoft.com/office/drawing/2014/main" id="{9D0C11DC-61AC-4D1E-B7A5-6DE33CC16AB5}"/>
              </a:ext>
            </a:extLst>
          </p:cNvPr>
          <p:cNvSpPr txBox="1"/>
          <p:nvPr/>
        </p:nvSpPr>
        <p:spPr>
          <a:xfrm>
            <a:off x="3898900" y="685800"/>
            <a:ext cx="3302000" cy="3556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en-US" sz="2700" b="1" dirty="0">
                <a:solidFill>
                  <a:srgbClr val="F4D70A"/>
                </a:solidFill>
              </a:rPr>
              <a:t>Cyberpunk 2077</a:t>
            </a:r>
            <a:endParaRPr lang="he-IL" sz="2700" b="1" dirty="0">
              <a:solidFill>
                <a:srgbClr val="F4D70A"/>
              </a:solidFill>
            </a:endParaRPr>
          </a:p>
        </p:txBody>
      </p:sp>
      <p:sp>
        <p:nvSpPr>
          <p:cNvPr id="51" name="מלבן: פינות מעוגלות 50">
            <a:extLst>
              <a:ext uri="{FF2B5EF4-FFF2-40B4-BE49-F238E27FC236}">
                <a16:creationId xmlns:a16="http://schemas.microsoft.com/office/drawing/2014/main" id="{3B4A1586-803A-4E96-9FDA-503D1AEAEB28}"/>
              </a:ext>
            </a:extLst>
          </p:cNvPr>
          <p:cNvSpPr/>
          <p:nvPr/>
        </p:nvSpPr>
        <p:spPr>
          <a:xfrm>
            <a:off x="3911600" y="1181100"/>
            <a:ext cx="520700" cy="165100"/>
          </a:xfrm>
          <a:prstGeom prst="roundRect">
            <a:avLst>
              <a:gd name="adj" fmla="val 50000"/>
            </a:avLst>
          </a:prstGeom>
          <a:solidFill>
            <a:srgbClr val="1B7A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1" anchor="ctr" anchorCtr="0">
            <a:noAutofit/>
          </a:bodyPr>
          <a:lstStyle/>
          <a:p>
            <a:pPr algn="ctr"/>
            <a:r>
              <a:rPr lang="he-IL" sz="700" b="1" dirty="0">
                <a:solidFill>
                  <a:srgbClr val="FFFFFF"/>
                </a:solidFill>
              </a:rPr>
              <a:t>✓ נרכש</a:t>
            </a:r>
          </a:p>
        </p:txBody>
      </p:sp>
      <p:sp>
        <p:nvSpPr>
          <p:cNvPr id="52" name="מלבן: פינות מעוגלות 51">
            <a:extLst>
              <a:ext uri="{FF2B5EF4-FFF2-40B4-BE49-F238E27FC236}">
                <a16:creationId xmlns:a16="http://schemas.microsoft.com/office/drawing/2014/main" id="{5715DFC7-B00E-4C04-99F3-A58D3C3359A1}"/>
              </a:ext>
            </a:extLst>
          </p:cNvPr>
          <p:cNvSpPr/>
          <p:nvPr/>
        </p:nvSpPr>
        <p:spPr>
          <a:xfrm>
            <a:off x="4483100" y="1181100"/>
            <a:ext cx="685800" cy="165100"/>
          </a:xfrm>
          <a:prstGeom prst="roundRect">
            <a:avLst>
              <a:gd name="adj" fmla="val 50000"/>
            </a:avLst>
          </a:prstGeom>
          <a:solidFill>
            <a:srgbClr val="1B7A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1" anchor="ctr" anchorCtr="0">
            <a:noAutofit/>
          </a:bodyPr>
          <a:lstStyle/>
          <a:p>
            <a:pPr algn="ctr"/>
            <a:r>
              <a:rPr lang="he-IL" sz="700" b="1" dirty="0">
                <a:solidFill>
                  <a:srgbClr val="FFFFFF"/>
                </a:solidFill>
              </a:rPr>
              <a:t>תרגום מותקן</a:t>
            </a:r>
          </a:p>
        </p:txBody>
      </p:sp>
      <p:sp>
        <p:nvSpPr>
          <p:cNvPr id="53" name="מלבן: פינות מעוגלות 52">
            <a:extLst>
              <a:ext uri="{FF2B5EF4-FFF2-40B4-BE49-F238E27FC236}">
                <a16:creationId xmlns:a16="http://schemas.microsoft.com/office/drawing/2014/main" id="{E0F65C7B-291A-49B3-952D-E02953BD1F0A}"/>
              </a:ext>
            </a:extLst>
          </p:cNvPr>
          <p:cNvSpPr/>
          <p:nvPr/>
        </p:nvSpPr>
        <p:spPr>
          <a:xfrm>
            <a:off x="5232400" y="1181100"/>
            <a:ext cx="965200" cy="165100"/>
          </a:xfrm>
          <a:prstGeom prst="roundRect">
            <a:avLst>
              <a:gd name="adj" fmla="val 50000"/>
            </a:avLst>
          </a:prstGeom>
          <a:solidFill>
            <a:srgbClr val="2A24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1" anchor="ctr" anchorCtr="0">
            <a:noAutofit/>
          </a:bodyPr>
          <a:lstStyle/>
          <a:p>
            <a:pPr algn="ctr"/>
            <a:r>
              <a:rPr lang="he-IL" sz="700" b="1" dirty="0">
                <a:solidFill>
                  <a:srgbClr val="C9C2D6"/>
                </a:solidFill>
              </a:rPr>
              <a:t>שפה: עברית (עברית)</a:t>
            </a:r>
          </a:p>
        </p:txBody>
      </p:sp>
      <p:sp>
        <p:nvSpPr>
          <p:cNvPr id="54" name="מלבן: פינות מעוגלות 53">
            <a:extLst>
              <a:ext uri="{FF2B5EF4-FFF2-40B4-BE49-F238E27FC236}">
                <a16:creationId xmlns:a16="http://schemas.microsoft.com/office/drawing/2014/main" id="{48269DD4-276A-459D-8B9F-7377CDBE82B7}"/>
              </a:ext>
            </a:extLst>
          </p:cNvPr>
          <p:cNvSpPr/>
          <p:nvPr/>
        </p:nvSpPr>
        <p:spPr>
          <a:xfrm>
            <a:off x="6261100" y="1181100"/>
            <a:ext cx="292100" cy="165100"/>
          </a:xfrm>
          <a:prstGeom prst="roundRect">
            <a:avLst>
              <a:gd name="adj" fmla="val 50000"/>
            </a:avLst>
          </a:prstGeom>
          <a:solidFill>
            <a:srgbClr val="F4D70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1" anchor="ctr" anchorCtr="0">
            <a:noAutofit/>
          </a:bodyPr>
          <a:lstStyle/>
          <a:p>
            <a:pPr algn="ctr"/>
            <a:r>
              <a:rPr lang="he-IL" sz="700" b="1">
                <a:solidFill>
                  <a:srgbClr val="1A1A1A"/>
                </a:solidFill>
              </a:rPr>
              <a:t>בטא</a:t>
            </a:r>
          </a:p>
        </p:txBody>
      </p:sp>
      <p:sp>
        <p:nvSpPr>
          <p:cNvPr id="55" name="מלבן: פינות מעוגלות 54">
            <a:extLst>
              <a:ext uri="{FF2B5EF4-FFF2-40B4-BE49-F238E27FC236}">
                <a16:creationId xmlns:a16="http://schemas.microsoft.com/office/drawing/2014/main" id="{1DFC0180-BB77-4EC6-87B2-E603E31B19C8}"/>
              </a:ext>
            </a:extLst>
          </p:cNvPr>
          <p:cNvSpPr/>
          <p:nvPr/>
        </p:nvSpPr>
        <p:spPr>
          <a:xfrm>
            <a:off x="6616700" y="1181100"/>
            <a:ext cx="685800" cy="165100"/>
          </a:xfrm>
          <a:prstGeom prst="roundRect">
            <a:avLst>
              <a:gd name="adj" fmla="val 50000"/>
            </a:avLst>
          </a:prstGeom>
          <a:solidFill>
            <a:srgbClr val="2A24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1" anchor="ctr" anchorCtr="0">
            <a:noAutofit/>
          </a:bodyPr>
          <a:lstStyle/>
          <a:p>
            <a:pPr algn="ctr"/>
            <a:r>
              <a:rPr lang="en-US" sz="700" b="1" dirty="0">
                <a:solidFill>
                  <a:srgbClr val="C9C2D6"/>
                </a:solidFill>
              </a:rPr>
              <a:t>v1.0.0-beta.3</a:t>
            </a:r>
            <a:endParaRPr lang="he-IL" sz="700" b="1" dirty="0">
              <a:solidFill>
                <a:srgbClr val="C9C2D6"/>
              </a:solidFill>
            </a:endParaRPr>
          </a:p>
        </p:txBody>
      </p:sp>
      <p:sp>
        <p:nvSpPr>
          <p:cNvPr id="56" name="מלבן: פינות מעוגלות 55">
            <a:extLst>
              <a:ext uri="{FF2B5EF4-FFF2-40B4-BE49-F238E27FC236}">
                <a16:creationId xmlns:a16="http://schemas.microsoft.com/office/drawing/2014/main" id="{B526C34C-D529-498D-A3CC-1A89DC9E4561}"/>
              </a:ext>
            </a:extLst>
          </p:cNvPr>
          <p:cNvSpPr/>
          <p:nvPr/>
        </p:nvSpPr>
        <p:spPr>
          <a:xfrm>
            <a:off x="3911600" y="1524000"/>
            <a:ext cx="342900" cy="165100"/>
          </a:xfrm>
          <a:prstGeom prst="roundRect">
            <a:avLst>
              <a:gd name="adj" fmla="val 50000"/>
            </a:avLst>
          </a:prstGeom>
          <a:solidFill>
            <a:srgbClr val="F4D70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57" name="אליפסה 56">
            <a:extLst>
              <a:ext uri="{FF2B5EF4-FFF2-40B4-BE49-F238E27FC236}">
                <a16:creationId xmlns:a16="http://schemas.microsoft.com/office/drawing/2014/main" id="{EE47E800-E3A0-411E-84BE-4F43E47F92FF}"/>
              </a:ext>
            </a:extLst>
          </p:cNvPr>
          <p:cNvSpPr/>
          <p:nvPr/>
        </p:nvSpPr>
        <p:spPr>
          <a:xfrm>
            <a:off x="3944143" y="1542257"/>
            <a:ext cx="127000" cy="127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58" name="תיבת טקסט 57">
            <a:extLst>
              <a:ext uri="{FF2B5EF4-FFF2-40B4-BE49-F238E27FC236}">
                <a16:creationId xmlns:a16="http://schemas.microsoft.com/office/drawing/2014/main" id="{C60C2A3A-AF43-45CC-AABD-23B343E3C8F9}"/>
              </a:ext>
            </a:extLst>
          </p:cNvPr>
          <p:cNvSpPr txBox="1"/>
          <p:nvPr/>
        </p:nvSpPr>
        <p:spPr>
          <a:xfrm>
            <a:off x="4343400" y="1435100"/>
            <a:ext cx="3594100" cy="1651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1000" b="1" dirty="0">
                <a:solidFill>
                  <a:srgbClr val="FFFFFF"/>
                </a:solidFill>
              </a:rPr>
              <a:t>קבל גרסאות בטא למשחק זה</a:t>
            </a:r>
          </a:p>
        </p:txBody>
      </p:sp>
      <p:sp>
        <p:nvSpPr>
          <p:cNvPr id="59" name="תיבת טקסט 58">
            <a:extLst>
              <a:ext uri="{FF2B5EF4-FFF2-40B4-BE49-F238E27FC236}">
                <a16:creationId xmlns:a16="http://schemas.microsoft.com/office/drawing/2014/main" id="{2E5BC1A5-1A30-4301-B6D1-87C5E8EC53A0}"/>
              </a:ext>
            </a:extLst>
          </p:cNvPr>
          <p:cNvSpPr txBox="1"/>
          <p:nvPr/>
        </p:nvSpPr>
        <p:spPr>
          <a:xfrm>
            <a:off x="4330700" y="1619250"/>
            <a:ext cx="3594100" cy="18415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700" dirty="0">
                <a:solidFill>
                  <a:srgbClr val="9A93AB"/>
                </a:solidFill>
              </a:rPr>
              <a:t>גרסאות מוקדמות — חדשות יותר אך עשויות להיות פחות יציבות. ברירת המחדל (מהגדרות): מופעל!</a:t>
            </a:r>
          </a:p>
        </p:txBody>
      </p:sp>
      <p:sp>
        <p:nvSpPr>
          <p:cNvPr id="60" name="תיבת טקסט 59">
            <a:extLst>
              <a:ext uri="{FF2B5EF4-FFF2-40B4-BE49-F238E27FC236}">
                <a16:creationId xmlns:a16="http://schemas.microsoft.com/office/drawing/2014/main" id="{80B3A6A2-3E08-40EE-8413-D0994C6F9579}"/>
              </a:ext>
            </a:extLst>
          </p:cNvPr>
          <p:cNvSpPr txBox="1"/>
          <p:nvPr/>
        </p:nvSpPr>
        <p:spPr>
          <a:xfrm>
            <a:off x="4343400" y="1981200"/>
            <a:ext cx="4965700" cy="2032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1300" b="1" dirty="0">
                <a:solidFill>
                  <a:srgbClr val="FFFFFF"/>
                </a:solidFill>
              </a:rPr>
              <a:t>היכנסו לעולמו של </a:t>
            </a:r>
            <a:r>
              <a:rPr lang="en-US" sz="1300" b="1" dirty="0">
                <a:solidFill>
                  <a:srgbClr val="FFFFFF"/>
                </a:solidFill>
              </a:rPr>
              <a:t>V</a:t>
            </a:r>
            <a:r>
              <a:rPr lang="he-IL" sz="1300" b="1" dirty="0">
                <a:solidFill>
                  <a:srgbClr val="FFFFFF"/>
                </a:solidFill>
              </a:rPr>
              <a:t> ברחובות </a:t>
            </a:r>
            <a:r>
              <a:rPr lang="he-IL" sz="1300" b="1" dirty="0" err="1">
                <a:solidFill>
                  <a:srgbClr val="FFFFFF"/>
                </a:solidFill>
              </a:rPr>
              <a:t>נייט</a:t>
            </a:r>
            <a:r>
              <a:rPr lang="he-IL" sz="1300" b="1" dirty="0">
                <a:solidFill>
                  <a:srgbClr val="FFFFFF"/>
                </a:solidFill>
              </a:rPr>
              <a:t> סיטי</a:t>
            </a:r>
          </a:p>
        </p:txBody>
      </p:sp>
      <p:sp>
        <p:nvSpPr>
          <p:cNvPr id="61" name="תיבת טקסט 60">
            <a:extLst>
              <a:ext uri="{FF2B5EF4-FFF2-40B4-BE49-F238E27FC236}">
                <a16:creationId xmlns:a16="http://schemas.microsoft.com/office/drawing/2014/main" id="{D527EC53-523D-4B17-A2D6-45D649C4E8D6}"/>
              </a:ext>
            </a:extLst>
          </p:cNvPr>
          <p:cNvSpPr txBox="1"/>
          <p:nvPr/>
        </p:nvSpPr>
        <p:spPr>
          <a:xfrm>
            <a:off x="3822700" y="2260600"/>
            <a:ext cx="5486400" cy="2794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800" dirty="0">
                <a:solidFill>
                  <a:srgbClr val="B9B2C9"/>
                </a:solidFill>
              </a:rPr>
              <a:t>תרגום ענק המקיף מאות אלפי שורות דיאלוג, סלנג רחוב מחוספס ואווירה טכנולוגית ואווירה בלתי נשכחת — עכשיו בעברית.</a:t>
            </a:r>
          </a:p>
        </p:txBody>
      </p:sp>
      <p:sp>
        <p:nvSpPr>
          <p:cNvPr id="62" name="מלבן: פינות מעוגלות 61">
            <a:extLst>
              <a:ext uri="{FF2B5EF4-FFF2-40B4-BE49-F238E27FC236}">
                <a16:creationId xmlns:a16="http://schemas.microsoft.com/office/drawing/2014/main" id="{3A967588-B54B-42C1-A05E-72E03C87B066}"/>
              </a:ext>
            </a:extLst>
          </p:cNvPr>
          <p:cNvSpPr/>
          <p:nvPr/>
        </p:nvSpPr>
        <p:spPr>
          <a:xfrm>
            <a:off x="6540500" y="4457700"/>
            <a:ext cx="889000" cy="381000"/>
          </a:xfrm>
          <a:prstGeom prst="roundRect">
            <a:avLst/>
          </a:prstGeom>
          <a:solidFill>
            <a:srgbClr val="2A2438"/>
          </a:solidFill>
          <a:ln w="12700" cap="flat" cmpd="sng" algn="ctr">
            <a:solidFill>
              <a:srgbClr val="3A33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1" anchor="ctr" anchorCtr="0">
            <a:noAutofit/>
          </a:bodyPr>
          <a:lstStyle/>
          <a:p>
            <a:pPr algn="l"/>
            <a:r>
              <a:rPr lang="he-IL" sz="900">
                <a:solidFill>
                  <a:srgbClr val="D6D0E2"/>
                </a:solidFill>
              </a:rPr>
              <a:t>התקנה מחדש</a:t>
            </a:r>
          </a:p>
        </p:txBody>
      </p:sp>
      <p:sp>
        <p:nvSpPr>
          <p:cNvPr id="63" name="מלבן: פינות מעוגלות 62">
            <a:extLst>
              <a:ext uri="{FF2B5EF4-FFF2-40B4-BE49-F238E27FC236}">
                <a16:creationId xmlns:a16="http://schemas.microsoft.com/office/drawing/2014/main" id="{C18A1F89-A7BC-4BD9-A607-4CFB7FC7A5AE}"/>
              </a:ext>
            </a:extLst>
          </p:cNvPr>
          <p:cNvSpPr/>
          <p:nvPr/>
        </p:nvSpPr>
        <p:spPr>
          <a:xfrm>
            <a:off x="7505700" y="4457700"/>
            <a:ext cx="825500" cy="381000"/>
          </a:xfrm>
          <a:prstGeom prst="roundRect">
            <a:avLst/>
          </a:prstGeom>
          <a:solidFill>
            <a:srgbClr val="5E1E2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1" anchor="ctr" anchorCtr="0">
            <a:noAutofit/>
          </a:bodyPr>
          <a:lstStyle/>
          <a:p>
            <a:pPr algn="l"/>
            <a:r>
              <a:rPr lang="he-IL" sz="900">
                <a:solidFill>
                  <a:srgbClr val="F0A8B4"/>
                </a:solidFill>
              </a:rPr>
              <a:t>הסרת התרגום</a:t>
            </a:r>
          </a:p>
        </p:txBody>
      </p:sp>
      <p:sp>
        <p:nvSpPr>
          <p:cNvPr id="64" name="מלבן: פינות מעוגלות 63">
            <a:extLst>
              <a:ext uri="{FF2B5EF4-FFF2-40B4-BE49-F238E27FC236}">
                <a16:creationId xmlns:a16="http://schemas.microsoft.com/office/drawing/2014/main" id="{00BFF788-C153-4F1B-9C3C-7D2E7A9435B7}"/>
              </a:ext>
            </a:extLst>
          </p:cNvPr>
          <p:cNvSpPr/>
          <p:nvPr/>
        </p:nvSpPr>
        <p:spPr>
          <a:xfrm>
            <a:off x="8394700" y="4457700"/>
            <a:ext cx="990600" cy="381000"/>
          </a:xfrm>
          <a:prstGeom prst="roundRect">
            <a:avLst/>
          </a:prstGeom>
          <a:solidFill>
            <a:srgbClr val="F4D70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1" anchor="ctr" anchorCtr="0">
            <a:noAutofit/>
          </a:bodyPr>
          <a:lstStyle/>
          <a:p>
            <a:pPr algn="l"/>
            <a:r>
              <a:rPr lang="he-IL" sz="1200" b="1">
                <a:solidFill>
                  <a:srgbClr val="1A1A1A"/>
                </a:solidFill>
              </a:rPr>
              <a:t>▶  הפעל</a:t>
            </a:r>
          </a:p>
        </p:txBody>
      </p:sp>
      <p:sp>
        <p:nvSpPr>
          <p:cNvPr id="65" name="מלבן: פינות מעוגלות 64">
            <a:extLst>
              <a:ext uri="{FF2B5EF4-FFF2-40B4-BE49-F238E27FC236}">
                <a16:creationId xmlns:a16="http://schemas.microsoft.com/office/drawing/2014/main" id="{8D1D28D1-DB03-4835-976C-ED3401732425}"/>
              </a:ext>
            </a:extLst>
          </p:cNvPr>
          <p:cNvSpPr/>
          <p:nvPr/>
        </p:nvSpPr>
        <p:spPr>
          <a:xfrm>
            <a:off x="9436100" y="647700"/>
            <a:ext cx="2463800" cy="3797300"/>
          </a:xfrm>
          <a:prstGeom prst="roundRect">
            <a:avLst>
              <a:gd name="adj" fmla="val 8259"/>
            </a:avLst>
          </a:prstGeom>
          <a:solidFill>
            <a:srgbClr val="F4D70A"/>
          </a:solidFill>
          <a:ln w="25400" cap="flat" cmpd="sng" algn="ctr">
            <a:solidFill>
              <a:srgbClr val="F4D70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66" name="מלבן: פינות מעוגלות 65">
            <a:extLst>
              <a:ext uri="{FF2B5EF4-FFF2-40B4-BE49-F238E27FC236}">
                <a16:creationId xmlns:a16="http://schemas.microsoft.com/office/drawing/2014/main" id="{FFF29B85-B975-436F-8A5C-680540FCEC7F}"/>
              </a:ext>
            </a:extLst>
          </p:cNvPr>
          <p:cNvSpPr/>
          <p:nvPr/>
        </p:nvSpPr>
        <p:spPr>
          <a:xfrm>
            <a:off x="9525000" y="736600"/>
            <a:ext cx="2286000" cy="3619500"/>
          </a:xfrm>
          <a:prstGeom prst="roundRect">
            <a:avLst>
              <a:gd name="adj" fmla="val 5521"/>
            </a:avLst>
          </a:prstGeom>
          <a:solidFill>
            <a:srgbClr val="E6C8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67" name="תיבת טקסט 66">
            <a:extLst>
              <a:ext uri="{FF2B5EF4-FFF2-40B4-BE49-F238E27FC236}">
                <a16:creationId xmlns:a16="http://schemas.microsoft.com/office/drawing/2014/main" id="{DF2D64FB-C829-465E-AD60-70FD5D4B839A}"/>
              </a:ext>
            </a:extLst>
          </p:cNvPr>
          <p:cNvSpPr txBox="1"/>
          <p:nvPr/>
        </p:nvSpPr>
        <p:spPr>
          <a:xfrm>
            <a:off x="9664700" y="3644900"/>
            <a:ext cx="1993900" cy="2540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b="1">
                <a:solidFill>
                  <a:srgbClr val="111111"/>
                </a:solidFill>
              </a:rPr>
              <a:t>CYBERPUNK</a:t>
            </a:r>
            <a:endParaRPr lang="he-IL" b="1">
              <a:solidFill>
                <a:srgbClr val="111111"/>
              </a:solidFill>
            </a:endParaRPr>
          </a:p>
        </p:txBody>
      </p:sp>
      <p:sp>
        <p:nvSpPr>
          <p:cNvPr id="68" name="תיבת טקסט 67">
            <a:extLst>
              <a:ext uri="{FF2B5EF4-FFF2-40B4-BE49-F238E27FC236}">
                <a16:creationId xmlns:a16="http://schemas.microsoft.com/office/drawing/2014/main" id="{5E3AC11B-8FD9-433C-881E-DBD2AE442722}"/>
              </a:ext>
            </a:extLst>
          </p:cNvPr>
          <p:cNvSpPr txBox="1"/>
          <p:nvPr/>
        </p:nvSpPr>
        <p:spPr>
          <a:xfrm>
            <a:off x="9664700" y="3898900"/>
            <a:ext cx="1993900" cy="2159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he-IL" sz="1400" b="1">
                <a:solidFill>
                  <a:srgbClr val="111111"/>
                </a:solidFill>
              </a:rPr>
              <a:t>2077</a:t>
            </a:r>
          </a:p>
        </p:txBody>
      </p:sp>
      <p:pic>
        <p:nvPicPr>
          <p:cNvPr id="69" name="Graphic 69" descr="logo char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300" y="495300"/>
            <a:ext cx="215900" cy="215900"/>
          </a:xfrm>
          <a:prstGeom prst="rect">
            <a:avLst/>
          </a:prstGeom>
        </p:spPr>
      </p:pic>
      <p:pic>
        <p:nvPicPr>
          <p:cNvPr id="70" name="Graphic 70" descr="home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100" y="927100"/>
            <a:ext cx="165100" cy="165100"/>
          </a:xfrm>
          <a:prstGeom prst="rect">
            <a:avLst/>
          </a:prstGeom>
        </p:spPr>
      </p:pic>
      <p:pic>
        <p:nvPicPr>
          <p:cNvPr id="71" name="Graphic 71" descr="library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100" y="1244601"/>
            <a:ext cx="165100" cy="165100"/>
          </a:xfrm>
          <a:prstGeom prst="rect">
            <a:avLst/>
          </a:prstGeom>
        </p:spPr>
      </p:pic>
      <p:pic>
        <p:nvPicPr>
          <p:cNvPr id="72" name="Graphic 72" descr="downloads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9400" y="1561309"/>
            <a:ext cx="165100" cy="165100"/>
          </a:xfrm>
          <a:prstGeom prst="rect">
            <a:avLst/>
          </a:prstGeom>
        </p:spPr>
      </p:pic>
      <p:sp>
        <p:nvSpPr>
          <p:cNvPr id="34" name="מלבן: פינות מעוגלות 33">
            <a:extLst>
              <a:ext uri="{FF2B5EF4-FFF2-40B4-BE49-F238E27FC236}">
                <a16:creationId xmlns:a16="http://schemas.microsoft.com/office/drawing/2014/main" id="{C56D4300-DC7C-1D72-E5DA-91B90BCBC209}"/>
              </a:ext>
            </a:extLst>
          </p:cNvPr>
          <p:cNvSpPr/>
          <p:nvPr/>
        </p:nvSpPr>
        <p:spPr>
          <a:xfrm>
            <a:off x="573087" y="6070600"/>
            <a:ext cx="317500" cy="266700"/>
          </a:xfrm>
          <a:prstGeom prst="roundRect">
            <a:avLst>
              <a:gd name="adj" fmla="val 27554"/>
            </a:avLst>
          </a:prstGeom>
          <a:solidFill>
            <a:srgbClr val="13B5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 dirty="0"/>
          </a:p>
        </p:txBody>
      </p:sp>
      <p:sp>
        <p:nvSpPr>
          <p:cNvPr id="35" name="תיבת טקסט 34">
            <a:extLst>
              <a:ext uri="{FF2B5EF4-FFF2-40B4-BE49-F238E27FC236}">
                <a16:creationId xmlns:a16="http://schemas.microsoft.com/office/drawing/2014/main" id="{37961346-D9CF-D8BB-9344-8BCB2ABC8B97}"/>
              </a:ext>
            </a:extLst>
          </p:cNvPr>
          <p:cNvSpPr txBox="1"/>
          <p:nvPr/>
        </p:nvSpPr>
        <p:spPr>
          <a:xfrm>
            <a:off x="883126" y="6070182"/>
            <a:ext cx="591301" cy="16504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1000" b="1" dirty="0">
                <a:solidFill>
                  <a:srgbClr val="FFFFFF"/>
                </a:solidFill>
              </a:rPr>
              <a:t>הגדרות</a:t>
            </a:r>
          </a:p>
        </p:txBody>
      </p:sp>
      <p:pic>
        <p:nvPicPr>
          <p:cNvPr id="80" name="Graphic 74" descr="settings gear">
            <a:extLst>
              <a:ext uri="{FF2B5EF4-FFF2-40B4-BE49-F238E27FC236}">
                <a16:creationId xmlns:a16="http://schemas.microsoft.com/office/drawing/2014/main" id="{CC6EA316-8775-625D-8B18-534D9425CB8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3571" y="6108939"/>
            <a:ext cx="177800" cy="177800"/>
          </a:xfrm>
          <a:prstGeom prst="rect">
            <a:avLst/>
          </a:prstGeom>
        </p:spPr>
      </p:pic>
      <p:sp>
        <p:nvSpPr>
          <p:cNvPr id="83" name="מלבן: פינות מעוגלות 82">
            <a:extLst>
              <a:ext uri="{FF2B5EF4-FFF2-40B4-BE49-F238E27FC236}">
                <a16:creationId xmlns:a16="http://schemas.microsoft.com/office/drawing/2014/main" id="{129CE255-20FB-A5EE-5BEB-C55C2D657BE5}"/>
              </a:ext>
            </a:extLst>
          </p:cNvPr>
          <p:cNvSpPr/>
          <p:nvPr/>
        </p:nvSpPr>
        <p:spPr>
          <a:xfrm>
            <a:off x="190499" y="6028906"/>
            <a:ext cx="297971" cy="412750"/>
          </a:xfrm>
          <a:prstGeom prst="roundRect">
            <a:avLst>
              <a:gd name="adj" fmla="val 26712"/>
            </a:avLst>
          </a:prstGeom>
          <a:solidFill>
            <a:srgbClr val="1C1530"/>
          </a:solidFill>
          <a:ln w="12700" cap="flat" cmpd="sng" algn="ctr">
            <a:solidFill>
              <a:srgbClr val="2C24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pic>
        <p:nvPicPr>
          <p:cNvPr id="73" name="Graphic 73" descr="account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92100" y="1879600"/>
            <a:ext cx="165100" cy="165100"/>
          </a:xfrm>
          <a:prstGeom prst="rect">
            <a:avLst/>
          </a:prstGeom>
        </p:spPr>
      </p:pic>
      <p:grpSp>
        <p:nvGrpSpPr>
          <p:cNvPr id="18" name="קבוצה 17">
            <a:extLst>
              <a:ext uri="{FF2B5EF4-FFF2-40B4-BE49-F238E27FC236}">
                <a16:creationId xmlns:a16="http://schemas.microsoft.com/office/drawing/2014/main" id="{58036BBB-7E9C-56A8-3707-09E0261879BB}"/>
              </a:ext>
            </a:extLst>
          </p:cNvPr>
          <p:cNvGrpSpPr/>
          <p:nvPr/>
        </p:nvGrpSpPr>
        <p:grpSpPr>
          <a:xfrm>
            <a:off x="1841500" y="736600"/>
            <a:ext cx="1861868" cy="4102100"/>
            <a:chOff x="1841500" y="736600"/>
            <a:chExt cx="1861868" cy="4102100"/>
          </a:xfrm>
        </p:grpSpPr>
        <p:sp>
          <p:nvSpPr>
            <p:cNvPr id="77" name="מלבן: פינות מעוגלות 76">
              <a:extLst>
                <a:ext uri="{FF2B5EF4-FFF2-40B4-BE49-F238E27FC236}">
                  <a16:creationId xmlns:a16="http://schemas.microsoft.com/office/drawing/2014/main" id="{CA3C8CF7-ED92-98A8-AC29-FA312E21FEF5}"/>
                </a:ext>
              </a:extLst>
            </p:cNvPr>
            <p:cNvSpPr/>
            <p:nvPr/>
          </p:nvSpPr>
          <p:spPr>
            <a:xfrm>
              <a:off x="1841500" y="736600"/>
              <a:ext cx="1861868" cy="4102100"/>
            </a:xfrm>
            <a:prstGeom prst="roundRect">
              <a:avLst>
                <a:gd name="adj" fmla="val 20306"/>
              </a:avLst>
            </a:prstGeom>
            <a:solidFill>
              <a:srgbClr val="2D2050"/>
            </a:solidFill>
            <a:ln w="317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1" anchor="t"/>
            <a:lstStyle/>
            <a:p>
              <a:pPr algn="r" rtl="0"/>
              <a:endParaRPr lang="he-IL" dirty="0"/>
            </a:p>
          </p:txBody>
        </p:sp>
        <p:sp>
          <p:nvSpPr>
            <p:cNvPr id="25" name="תיבת טקסט 24">
              <a:extLst>
                <a:ext uri="{FF2B5EF4-FFF2-40B4-BE49-F238E27FC236}">
                  <a16:creationId xmlns:a16="http://schemas.microsoft.com/office/drawing/2014/main" id="{EA755E84-B68D-405B-A7D8-FC0C45C2E474}"/>
                </a:ext>
              </a:extLst>
            </p:cNvPr>
            <p:cNvSpPr txBox="1"/>
            <p:nvPr/>
          </p:nvSpPr>
          <p:spPr>
            <a:xfrm>
              <a:off x="2603500" y="812800"/>
              <a:ext cx="977900" cy="203200"/>
            </a:xfrm>
            <a:prstGeom prst="rect">
              <a:avLst/>
            </a:prstGeom>
            <a:noFill/>
          </p:spPr>
          <p:txBody>
            <a:bodyPr vertOverflow="overflow" vert="horz" wrap="square" rtlCol="1" anchor="ctr" anchorCtr="0">
              <a:noAutofit/>
            </a:bodyPr>
            <a:lstStyle/>
            <a:p>
              <a:r>
                <a:rPr lang="he-IL" sz="1300" b="1" dirty="0">
                  <a:solidFill>
                    <a:srgbClr val="FFFFFF"/>
                  </a:solidFill>
                </a:rPr>
                <a:t>הגדרות</a:t>
              </a:r>
            </a:p>
          </p:txBody>
        </p:sp>
        <p:sp>
          <p:nvSpPr>
            <p:cNvPr id="26" name="תיבת טקסט 25">
              <a:extLst>
                <a:ext uri="{FF2B5EF4-FFF2-40B4-BE49-F238E27FC236}">
                  <a16:creationId xmlns:a16="http://schemas.microsoft.com/office/drawing/2014/main" id="{66E9FBE9-7E0D-4AF3-A3A5-5A076C821311}"/>
                </a:ext>
              </a:extLst>
            </p:cNvPr>
            <p:cNvSpPr txBox="1"/>
            <p:nvPr/>
          </p:nvSpPr>
          <p:spPr>
            <a:xfrm>
              <a:off x="2514600" y="1130300"/>
              <a:ext cx="1066800" cy="127000"/>
            </a:xfrm>
            <a:prstGeom prst="rect">
              <a:avLst/>
            </a:prstGeom>
            <a:noFill/>
          </p:spPr>
          <p:txBody>
            <a:bodyPr vertOverflow="overflow" vert="horz" wrap="square" rtlCol="1" anchor="ctr" anchorCtr="0">
              <a:noAutofit/>
            </a:bodyPr>
            <a:lstStyle/>
            <a:p>
              <a:r>
                <a:rPr lang="he-IL" sz="800" dirty="0">
                  <a:solidFill>
                    <a:srgbClr val="9A93AB"/>
                  </a:solidFill>
                </a:rPr>
                <a:t>נתיב התקנה</a:t>
              </a:r>
            </a:p>
          </p:txBody>
        </p:sp>
        <p:sp>
          <p:nvSpPr>
            <p:cNvPr id="27" name="מלבן: פינות מעוגלות 26">
              <a:extLst>
                <a:ext uri="{FF2B5EF4-FFF2-40B4-BE49-F238E27FC236}">
                  <a16:creationId xmlns:a16="http://schemas.microsoft.com/office/drawing/2014/main" id="{EF6ABA08-CB11-4D30-9058-6E3CEF10BE90}"/>
                </a:ext>
              </a:extLst>
            </p:cNvPr>
            <p:cNvSpPr/>
            <p:nvPr/>
          </p:nvSpPr>
          <p:spPr>
            <a:xfrm>
              <a:off x="1981200" y="1295400"/>
              <a:ext cx="1600200" cy="241300"/>
            </a:xfrm>
            <a:prstGeom prst="roundRect">
              <a:avLst/>
            </a:prstGeom>
            <a:solidFill>
              <a:srgbClr val="1C1730"/>
            </a:solidFill>
            <a:ln w="12700" cap="flat" cmpd="sng" algn="ctr">
              <a:solidFill>
                <a:srgbClr val="2E2740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1" anchor="ctr" anchorCtr="0">
              <a:noAutofit/>
            </a:bodyPr>
            <a:lstStyle/>
            <a:p>
              <a:pPr algn="l"/>
              <a:r>
                <a:rPr lang="en-US" sz="800">
                  <a:solidFill>
                    <a:srgbClr val="E6E1F0"/>
                  </a:solidFill>
                </a:rPr>
                <a:t>C:\Games\Cyberpunk 2077</a:t>
              </a:r>
              <a:endParaRPr lang="he-IL" sz="800">
                <a:solidFill>
                  <a:srgbClr val="E6E1F0"/>
                </a:solidFill>
              </a:endParaRPr>
            </a:p>
          </p:txBody>
        </p:sp>
        <p:sp>
          <p:nvSpPr>
            <p:cNvPr id="28" name="מלבן: פינות מעוגלות 27">
              <a:extLst>
                <a:ext uri="{FF2B5EF4-FFF2-40B4-BE49-F238E27FC236}">
                  <a16:creationId xmlns:a16="http://schemas.microsoft.com/office/drawing/2014/main" id="{FA33F172-8BFC-4E7E-915D-1FFA53FE96F0}"/>
                </a:ext>
              </a:extLst>
            </p:cNvPr>
            <p:cNvSpPr/>
            <p:nvPr/>
          </p:nvSpPr>
          <p:spPr>
            <a:xfrm>
              <a:off x="2959100" y="1600200"/>
              <a:ext cx="635000" cy="215900"/>
            </a:xfrm>
            <a:prstGeom prst="roundRect">
              <a:avLst/>
            </a:prstGeom>
            <a:solidFill>
              <a:srgbClr val="F4D70A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1" anchor="ctr" anchorCtr="0">
              <a:noAutofit/>
            </a:bodyPr>
            <a:lstStyle/>
            <a:p>
              <a:pPr algn="ctr"/>
              <a:r>
                <a:rPr lang="he-IL" sz="900" b="1" dirty="0">
                  <a:solidFill>
                    <a:srgbClr val="1A1A1A"/>
                  </a:solidFill>
                </a:rPr>
                <a:t>שמור</a:t>
              </a:r>
            </a:p>
          </p:txBody>
        </p:sp>
        <p:sp>
          <p:nvSpPr>
            <p:cNvPr id="29" name="מלבן: פינות מעוגלות 28">
              <a:extLst>
                <a:ext uri="{FF2B5EF4-FFF2-40B4-BE49-F238E27FC236}">
                  <a16:creationId xmlns:a16="http://schemas.microsoft.com/office/drawing/2014/main" id="{3D1B99D5-C290-473F-82B4-59268E86C588}"/>
                </a:ext>
              </a:extLst>
            </p:cNvPr>
            <p:cNvSpPr/>
            <p:nvPr/>
          </p:nvSpPr>
          <p:spPr>
            <a:xfrm>
              <a:off x="1981200" y="1600200"/>
              <a:ext cx="774700" cy="215900"/>
            </a:xfrm>
            <a:prstGeom prst="roundRect">
              <a:avLst/>
            </a:prstGeom>
            <a:solidFill>
              <a:srgbClr val="16111F"/>
            </a:solidFill>
            <a:ln w="12700" cap="flat" cmpd="sng" algn="ctr">
              <a:solidFill>
                <a:srgbClr val="3A3350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1" anchor="ctr" anchorCtr="0">
              <a:noAutofit/>
            </a:bodyPr>
            <a:lstStyle/>
            <a:p>
              <a:pPr algn="ctr"/>
              <a:r>
                <a:rPr lang="he-IL" sz="900">
                  <a:solidFill>
                    <a:srgbClr val="D6D0E2"/>
                  </a:solidFill>
                </a:rPr>
                <a:t>נקה</a:t>
              </a:r>
            </a:p>
          </p:txBody>
        </p:sp>
        <p:sp>
          <p:nvSpPr>
            <p:cNvPr id="30" name="מלבן: פינות מעוגלות 29">
              <a:extLst>
                <a:ext uri="{FF2B5EF4-FFF2-40B4-BE49-F238E27FC236}">
                  <a16:creationId xmlns:a16="http://schemas.microsoft.com/office/drawing/2014/main" id="{0C092A6B-28D7-4774-A6DD-547AF8F23AEE}"/>
                </a:ext>
              </a:extLst>
            </p:cNvPr>
            <p:cNvSpPr/>
            <p:nvPr/>
          </p:nvSpPr>
          <p:spPr>
            <a:xfrm>
              <a:off x="1981200" y="1943100"/>
              <a:ext cx="1600200" cy="241300"/>
            </a:xfrm>
            <a:prstGeom prst="roundRect">
              <a:avLst/>
            </a:prstGeom>
            <a:solidFill>
              <a:srgbClr val="16111F"/>
            </a:solidFill>
            <a:ln w="12700" cap="flat" cmpd="sng" algn="ctr">
              <a:solidFill>
                <a:srgbClr val="3A3350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1" anchor="ctr" anchorCtr="0">
              <a:noAutofit/>
            </a:bodyPr>
            <a:lstStyle/>
            <a:p>
              <a:pPr algn="ctr"/>
              <a:r>
                <a:rPr lang="he-IL" sz="900" dirty="0">
                  <a:solidFill>
                    <a:srgbClr val="D6D0E2"/>
                  </a:solidFill>
                </a:rPr>
                <a:t>פתח תיקיית משחק</a:t>
              </a:r>
            </a:p>
          </p:txBody>
        </p:sp>
        <p:sp>
          <p:nvSpPr>
            <p:cNvPr id="31" name="תיבת טקסט 30">
              <a:extLst>
                <a:ext uri="{FF2B5EF4-FFF2-40B4-BE49-F238E27FC236}">
                  <a16:creationId xmlns:a16="http://schemas.microsoft.com/office/drawing/2014/main" id="{6CA4E9D6-C54A-40AE-976C-2BC84B56D31D}"/>
                </a:ext>
              </a:extLst>
            </p:cNvPr>
            <p:cNvSpPr txBox="1"/>
            <p:nvPr/>
          </p:nvSpPr>
          <p:spPr>
            <a:xfrm>
              <a:off x="2559050" y="2381250"/>
              <a:ext cx="1066800" cy="127000"/>
            </a:xfrm>
            <a:prstGeom prst="rect">
              <a:avLst/>
            </a:prstGeom>
            <a:noFill/>
          </p:spPr>
          <p:txBody>
            <a:bodyPr vertOverflow="overflow" vert="horz" wrap="square" rtlCol="1" anchor="ctr" anchorCtr="0">
              <a:noAutofit/>
            </a:bodyPr>
            <a:lstStyle/>
            <a:p>
              <a:r>
                <a:rPr lang="he-IL" sz="800" dirty="0">
                  <a:solidFill>
                    <a:srgbClr val="9A93AB"/>
                  </a:solidFill>
                </a:rPr>
                <a:t>שפת המשחק</a:t>
              </a:r>
            </a:p>
          </p:txBody>
        </p:sp>
        <p:sp>
          <p:nvSpPr>
            <p:cNvPr id="33" name="מלבן: פינות מעוגלות 32">
              <a:extLst>
                <a:ext uri="{FF2B5EF4-FFF2-40B4-BE49-F238E27FC236}">
                  <a16:creationId xmlns:a16="http://schemas.microsoft.com/office/drawing/2014/main" id="{54D7555D-DA1F-41D4-B829-D9FFA3EE2744}"/>
                </a:ext>
              </a:extLst>
            </p:cNvPr>
            <p:cNvSpPr/>
            <p:nvPr/>
          </p:nvSpPr>
          <p:spPr>
            <a:xfrm>
              <a:off x="3074195" y="2577706"/>
              <a:ext cx="469900" cy="203200"/>
            </a:xfrm>
            <a:prstGeom prst="roundRect">
              <a:avLst/>
            </a:prstGeom>
            <a:solidFill>
              <a:srgbClr val="F4D70A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1" anchor="ctr" anchorCtr="0">
              <a:noAutofit/>
            </a:bodyPr>
            <a:lstStyle/>
            <a:p>
              <a:pPr algn="ctr"/>
              <a:r>
                <a:rPr lang="he-IL" sz="800" b="1" dirty="0">
                  <a:solidFill>
                    <a:srgbClr val="1A1A1A"/>
                  </a:solidFill>
                </a:rPr>
                <a:t>אוטומטי</a:t>
              </a:r>
            </a:p>
          </p:txBody>
        </p:sp>
        <p:sp>
          <p:nvSpPr>
            <p:cNvPr id="36" name="תיבת טקסט 35">
              <a:extLst>
                <a:ext uri="{FF2B5EF4-FFF2-40B4-BE49-F238E27FC236}">
                  <a16:creationId xmlns:a16="http://schemas.microsoft.com/office/drawing/2014/main" id="{205689B5-15B9-419D-9A8F-11BE070F3C5E}"/>
                </a:ext>
              </a:extLst>
            </p:cNvPr>
            <p:cNvSpPr txBox="1"/>
            <p:nvPr/>
          </p:nvSpPr>
          <p:spPr>
            <a:xfrm>
              <a:off x="1981200" y="2832100"/>
              <a:ext cx="1600200" cy="254000"/>
            </a:xfrm>
            <a:prstGeom prst="rect">
              <a:avLst/>
            </a:prstGeom>
            <a:noFill/>
          </p:spPr>
          <p:txBody>
            <a:bodyPr vertOverflow="overflow" vert="horz" wrap="square" rtlCol="1" anchor="ctr" anchorCtr="0">
              <a:noAutofit/>
            </a:bodyPr>
            <a:lstStyle/>
            <a:p>
              <a:r>
                <a:rPr lang="he-IL" sz="650" dirty="0">
                  <a:solidFill>
                    <a:srgbClr val="8A8398"/>
                  </a:solidFill>
                </a:rPr>
                <a:t>☑ שמור לשפה שלפני (משוחזר) · התוכנית כעת: עברית (עברית)</a:t>
              </a:r>
            </a:p>
          </p:txBody>
        </p:sp>
        <p:sp>
          <p:nvSpPr>
            <p:cNvPr id="37" name="תיבת טקסט 36">
              <a:extLst>
                <a:ext uri="{FF2B5EF4-FFF2-40B4-BE49-F238E27FC236}">
                  <a16:creationId xmlns:a16="http://schemas.microsoft.com/office/drawing/2014/main" id="{D16D871D-A50D-46F2-B556-EE7959D20691}"/>
                </a:ext>
              </a:extLst>
            </p:cNvPr>
            <p:cNvSpPr txBox="1"/>
            <p:nvPr/>
          </p:nvSpPr>
          <p:spPr>
            <a:xfrm>
              <a:off x="1981200" y="3060700"/>
              <a:ext cx="1600200" cy="393700"/>
            </a:xfrm>
            <a:prstGeom prst="rect">
              <a:avLst/>
            </a:prstGeom>
            <a:noFill/>
          </p:spPr>
          <p:txBody>
            <a:bodyPr vertOverflow="overflow" vert="horz" wrap="square" rtlCol="1" anchor="ctr" anchorCtr="0">
              <a:noAutofit/>
            </a:bodyPr>
            <a:lstStyle/>
            <a:p>
              <a:r>
                <a:rPr lang="he-IL" sz="650" dirty="0">
                  <a:solidFill>
                    <a:srgbClr val="7E7690"/>
                  </a:solidFill>
                </a:rPr>
                <a:t>החלפת השפה תיכנס לתוקף בהפעלה הבאה של המשחק. בחירת "עברית" משחזרת את העברית בכל המשחק (כיוון </a:t>
              </a:r>
              <a:r>
                <a:rPr lang="en-US" sz="650" dirty="0">
                  <a:solidFill>
                    <a:srgbClr val="7E7690"/>
                  </a:solidFill>
                </a:rPr>
                <a:t>RTL</a:t>
              </a:r>
              <a:r>
                <a:rPr lang="he-IL" sz="650" dirty="0">
                  <a:solidFill>
                    <a:srgbClr val="7E7690"/>
                  </a:solidFill>
                </a:rPr>
                <a:t> מובנה).</a:t>
              </a:r>
            </a:p>
          </p:txBody>
        </p:sp>
        <p:sp>
          <p:nvSpPr>
            <p:cNvPr id="38" name="מלבן: פינות מעוגלות 37">
              <a:extLst>
                <a:ext uri="{FF2B5EF4-FFF2-40B4-BE49-F238E27FC236}">
                  <a16:creationId xmlns:a16="http://schemas.microsoft.com/office/drawing/2014/main" id="{2AA55906-8E47-4DA9-9C9E-E6ADDD194C91}"/>
                </a:ext>
              </a:extLst>
            </p:cNvPr>
            <p:cNvSpPr/>
            <p:nvPr/>
          </p:nvSpPr>
          <p:spPr>
            <a:xfrm>
              <a:off x="1981200" y="3492500"/>
              <a:ext cx="1600200" cy="241300"/>
            </a:xfrm>
            <a:prstGeom prst="roundRect">
              <a:avLst/>
            </a:prstGeom>
            <a:solidFill>
              <a:srgbClr val="16111F"/>
            </a:solidFill>
            <a:ln w="15875" cap="flat" cmpd="sng" algn="ctr">
              <a:solidFill>
                <a:srgbClr val="7A2230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1" anchor="ctr" anchorCtr="0">
              <a:noAutofit/>
            </a:bodyPr>
            <a:lstStyle/>
            <a:p>
              <a:pPr algn="ctr"/>
              <a:r>
                <a:rPr lang="he-IL" sz="900" dirty="0">
                  <a:solidFill>
                    <a:srgbClr val="E0B0BA"/>
                  </a:solidFill>
                </a:rPr>
                <a:t>ניקוי מטמון התרגום</a:t>
              </a:r>
            </a:p>
          </p:txBody>
        </p:sp>
        <p:grpSp>
          <p:nvGrpSpPr>
            <p:cNvPr id="81" name="קבוצה 80">
              <a:extLst>
                <a:ext uri="{FF2B5EF4-FFF2-40B4-BE49-F238E27FC236}">
                  <a16:creationId xmlns:a16="http://schemas.microsoft.com/office/drawing/2014/main" id="{D146B314-74E3-4238-98D2-477CBF84BBFB}"/>
                </a:ext>
              </a:extLst>
            </p:cNvPr>
            <p:cNvGrpSpPr/>
            <p:nvPr/>
          </p:nvGrpSpPr>
          <p:grpSpPr>
            <a:xfrm>
              <a:off x="1911350" y="3898900"/>
              <a:ext cx="977900" cy="749300"/>
              <a:chOff x="2603500" y="3987800"/>
              <a:chExt cx="977900" cy="749300"/>
            </a:xfrm>
          </p:grpSpPr>
          <p:sp>
            <p:nvSpPr>
              <p:cNvPr id="39" name="תיבת טקסט 38">
                <a:extLst>
                  <a:ext uri="{FF2B5EF4-FFF2-40B4-BE49-F238E27FC236}">
                    <a16:creationId xmlns:a16="http://schemas.microsoft.com/office/drawing/2014/main" id="{064C42C8-A6BA-45A3-95B8-FDB77785E9F8}"/>
                  </a:ext>
                </a:extLst>
              </p:cNvPr>
              <p:cNvSpPr txBox="1"/>
              <p:nvPr/>
            </p:nvSpPr>
            <p:spPr>
              <a:xfrm>
                <a:off x="2603500" y="3987800"/>
                <a:ext cx="977900" cy="127000"/>
              </a:xfrm>
              <a:prstGeom prst="rect">
                <a:avLst/>
              </a:prstGeom>
              <a:noFill/>
            </p:spPr>
            <p:txBody>
              <a:bodyPr vertOverflow="overflow" vert="horz" wrap="square" rtlCol="1" anchor="ctr" anchorCtr="0">
                <a:noAutofit/>
              </a:bodyPr>
              <a:lstStyle/>
              <a:p>
                <a:pPr algn="l"/>
                <a:r>
                  <a:rPr lang="he-IL" sz="800" dirty="0">
                    <a:solidFill>
                      <a:srgbClr val="9A93AB"/>
                    </a:solidFill>
                  </a:rPr>
                  <a:t>זמינות</a:t>
                </a:r>
              </a:p>
            </p:txBody>
          </p:sp>
          <p:sp>
            <p:nvSpPr>
              <p:cNvPr id="41" name="תיבת טקסט 40">
                <a:extLst>
                  <a:ext uri="{FF2B5EF4-FFF2-40B4-BE49-F238E27FC236}">
                    <a16:creationId xmlns:a16="http://schemas.microsoft.com/office/drawing/2014/main" id="{6AC154A5-A04A-4441-B041-ED588A5FAB03}"/>
                  </a:ext>
                </a:extLst>
              </p:cNvPr>
              <p:cNvSpPr txBox="1"/>
              <p:nvPr/>
            </p:nvSpPr>
            <p:spPr>
              <a:xfrm>
                <a:off x="2603500" y="4140200"/>
                <a:ext cx="977900" cy="127000"/>
              </a:xfrm>
              <a:prstGeom prst="rect">
                <a:avLst/>
              </a:prstGeom>
              <a:noFill/>
            </p:spPr>
            <p:txBody>
              <a:bodyPr vertOverflow="overflow" vert="horz" wrap="square" rtlCol="1" anchor="ctr" anchorCtr="0">
                <a:noAutofit/>
              </a:bodyPr>
              <a:lstStyle/>
              <a:p>
                <a:pPr algn="l"/>
                <a:r>
                  <a:rPr lang="he-IL" sz="800" dirty="0">
                    <a:solidFill>
                      <a:srgbClr val="9A93AB"/>
                    </a:solidFill>
                  </a:rPr>
                  <a:t>גרסה</a:t>
                </a:r>
              </a:p>
            </p:txBody>
          </p:sp>
          <p:sp>
            <p:nvSpPr>
              <p:cNvPr id="43" name="תיבת טקסט 42">
                <a:extLst>
                  <a:ext uri="{FF2B5EF4-FFF2-40B4-BE49-F238E27FC236}">
                    <a16:creationId xmlns:a16="http://schemas.microsoft.com/office/drawing/2014/main" id="{F0728837-4012-429F-96F0-08C23516EFEA}"/>
                  </a:ext>
                </a:extLst>
              </p:cNvPr>
              <p:cNvSpPr txBox="1"/>
              <p:nvPr/>
            </p:nvSpPr>
            <p:spPr>
              <a:xfrm>
                <a:off x="2603500" y="4292600"/>
                <a:ext cx="977900" cy="127000"/>
              </a:xfrm>
              <a:prstGeom prst="rect">
                <a:avLst/>
              </a:prstGeom>
              <a:noFill/>
            </p:spPr>
            <p:txBody>
              <a:bodyPr vertOverflow="overflow" vert="horz" wrap="square" rtlCol="1" anchor="ctr" anchorCtr="0">
                <a:noAutofit/>
              </a:bodyPr>
              <a:lstStyle/>
              <a:p>
                <a:pPr algn="l"/>
                <a:r>
                  <a:rPr lang="he-IL" sz="800" dirty="0">
                    <a:solidFill>
                      <a:srgbClr val="9A93AB"/>
                    </a:solidFill>
                  </a:rPr>
                  <a:t>התקנה</a:t>
                </a:r>
              </a:p>
            </p:txBody>
          </p:sp>
          <p:sp>
            <p:nvSpPr>
              <p:cNvPr id="45" name="תיבת טקסט 44">
                <a:extLst>
                  <a:ext uri="{FF2B5EF4-FFF2-40B4-BE49-F238E27FC236}">
                    <a16:creationId xmlns:a16="http://schemas.microsoft.com/office/drawing/2014/main" id="{703F273E-1406-40E3-9D87-9461121DA863}"/>
                  </a:ext>
                </a:extLst>
              </p:cNvPr>
              <p:cNvSpPr txBox="1"/>
              <p:nvPr/>
            </p:nvSpPr>
            <p:spPr>
              <a:xfrm>
                <a:off x="2603500" y="4457700"/>
                <a:ext cx="977900" cy="127000"/>
              </a:xfrm>
              <a:prstGeom prst="rect">
                <a:avLst/>
              </a:prstGeom>
              <a:noFill/>
            </p:spPr>
            <p:txBody>
              <a:bodyPr vertOverflow="overflow" vert="horz" wrap="square" rtlCol="1" anchor="ctr" anchorCtr="0">
                <a:noAutofit/>
              </a:bodyPr>
              <a:lstStyle/>
              <a:p>
                <a:pPr algn="l"/>
                <a:r>
                  <a:rPr lang="he-IL" sz="800" dirty="0">
                    <a:solidFill>
                      <a:srgbClr val="9A93AB"/>
                    </a:solidFill>
                  </a:rPr>
                  <a:t>תמיכת מוד</a:t>
                </a:r>
              </a:p>
            </p:txBody>
          </p:sp>
          <p:sp>
            <p:nvSpPr>
              <p:cNvPr id="47" name="תיבת טקסט 46">
                <a:extLst>
                  <a:ext uri="{FF2B5EF4-FFF2-40B4-BE49-F238E27FC236}">
                    <a16:creationId xmlns:a16="http://schemas.microsoft.com/office/drawing/2014/main" id="{92D5372A-AE9F-428C-8949-40C89AAFCC62}"/>
                  </a:ext>
                </a:extLst>
              </p:cNvPr>
              <p:cNvSpPr txBox="1"/>
              <p:nvPr/>
            </p:nvSpPr>
            <p:spPr>
              <a:xfrm>
                <a:off x="2603500" y="4610100"/>
                <a:ext cx="977900" cy="127000"/>
              </a:xfrm>
              <a:prstGeom prst="rect">
                <a:avLst/>
              </a:prstGeom>
              <a:noFill/>
            </p:spPr>
            <p:txBody>
              <a:bodyPr vertOverflow="overflow" vert="horz" wrap="square" rtlCol="1" anchor="ctr" anchorCtr="0">
                <a:noAutofit/>
              </a:bodyPr>
              <a:lstStyle/>
              <a:p>
                <a:pPr algn="l"/>
                <a:r>
                  <a:rPr lang="he-IL" sz="800" dirty="0">
                    <a:solidFill>
                      <a:srgbClr val="9A93AB"/>
                    </a:solidFill>
                  </a:rPr>
                  <a:t>סטטוס מוד</a:t>
                </a:r>
              </a:p>
            </p:txBody>
          </p:sp>
        </p:grpSp>
        <p:grpSp>
          <p:nvGrpSpPr>
            <p:cNvPr id="82" name="קבוצה 81">
              <a:extLst>
                <a:ext uri="{FF2B5EF4-FFF2-40B4-BE49-F238E27FC236}">
                  <a16:creationId xmlns:a16="http://schemas.microsoft.com/office/drawing/2014/main" id="{9ADAD872-73F5-C49B-93D2-D490E6F686B3}"/>
                </a:ext>
              </a:extLst>
            </p:cNvPr>
            <p:cNvGrpSpPr/>
            <p:nvPr/>
          </p:nvGrpSpPr>
          <p:grpSpPr>
            <a:xfrm>
              <a:off x="2837252" y="3898900"/>
              <a:ext cx="816514" cy="749300"/>
              <a:chOff x="2923112" y="3898900"/>
              <a:chExt cx="816514" cy="749300"/>
            </a:xfrm>
          </p:grpSpPr>
          <p:sp>
            <p:nvSpPr>
              <p:cNvPr id="40" name="תיבת טקסט 39">
                <a:extLst>
                  <a:ext uri="{FF2B5EF4-FFF2-40B4-BE49-F238E27FC236}">
                    <a16:creationId xmlns:a16="http://schemas.microsoft.com/office/drawing/2014/main" id="{A1D0930C-78CC-48C6-A864-C6DA91ADD0EA}"/>
                  </a:ext>
                </a:extLst>
              </p:cNvPr>
              <p:cNvSpPr txBox="1"/>
              <p:nvPr/>
            </p:nvSpPr>
            <p:spPr>
              <a:xfrm>
                <a:off x="3065987" y="3898900"/>
                <a:ext cx="669131" cy="127000"/>
              </a:xfrm>
              <a:prstGeom prst="rect">
                <a:avLst/>
              </a:prstGeom>
              <a:noFill/>
            </p:spPr>
            <p:txBody>
              <a:bodyPr vertOverflow="overflow" vert="horz" wrap="square" rtlCol="1" anchor="ctr" anchorCtr="0">
                <a:noAutofit/>
              </a:bodyPr>
              <a:lstStyle/>
              <a:p>
                <a:r>
                  <a:rPr lang="he-IL" sz="800" dirty="0">
                    <a:solidFill>
                      <a:srgbClr val="E6E1F0"/>
                    </a:solidFill>
                  </a:rPr>
                  <a:t>זמין</a:t>
                </a:r>
              </a:p>
            </p:txBody>
          </p:sp>
          <p:sp>
            <p:nvSpPr>
              <p:cNvPr id="42" name="תיבת טקסט 41">
                <a:extLst>
                  <a:ext uri="{FF2B5EF4-FFF2-40B4-BE49-F238E27FC236}">
                    <a16:creationId xmlns:a16="http://schemas.microsoft.com/office/drawing/2014/main" id="{460D4634-7954-4738-98CF-F4C3F5C4021F}"/>
                  </a:ext>
                </a:extLst>
              </p:cNvPr>
              <p:cNvSpPr txBox="1"/>
              <p:nvPr/>
            </p:nvSpPr>
            <p:spPr>
              <a:xfrm>
                <a:off x="2923112" y="4054475"/>
                <a:ext cx="812006" cy="127000"/>
              </a:xfrm>
              <a:prstGeom prst="rect">
                <a:avLst/>
              </a:prstGeom>
              <a:noFill/>
            </p:spPr>
            <p:txBody>
              <a:bodyPr vertOverflow="overflow" vert="horz" wrap="square" rtlCol="1" anchor="ctr" anchorCtr="0">
                <a:noAutofit/>
              </a:bodyPr>
              <a:lstStyle/>
              <a:p>
                <a:r>
                  <a:rPr lang="en-US" sz="800" dirty="0">
                    <a:solidFill>
                      <a:srgbClr val="E6E1F0"/>
                    </a:solidFill>
                  </a:rPr>
                  <a:t>v1.0.0-beta.3</a:t>
                </a:r>
                <a:endParaRPr lang="he-IL" sz="800" dirty="0">
                  <a:solidFill>
                    <a:srgbClr val="E6E1F0"/>
                  </a:solidFill>
                </a:endParaRPr>
              </a:p>
            </p:txBody>
          </p:sp>
          <p:sp>
            <p:nvSpPr>
              <p:cNvPr id="44" name="תיבת טקסט 43">
                <a:extLst>
                  <a:ext uri="{FF2B5EF4-FFF2-40B4-BE49-F238E27FC236}">
                    <a16:creationId xmlns:a16="http://schemas.microsoft.com/office/drawing/2014/main" id="{8E3870C6-FA71-4E53-AF02-C32636ADD110}"/>
                  </a:ext>
                </a:extLst>
              </p:cNvPr>
              <p:cNvSpPr txBox="1"/>
              <p:nvPr/>
            </p:nvSpPr>
            <p:spPr>
              <a:xfrm>
                <a:off x="3115199" y="4210050"/>
                <a:ext cx="622300" cy="127000"/>
              </a:xfrm>
              <a:prstGeom prst="rect">
                <a:avLst/>
              </a:prstGeom>
              <a:noFill/>
            </p:spPr>
            <p:txBody>
              <a:bodyPr vertOverflow="overflow" vert="horz" wrap="square" rtlCol="1" anchor="ctr" anchorCtr="0">
                <a:noAutofit/>
              </a:bodyPr>
              <a:lstStyle/>
              <a:p>
                <a:r>
                  <a:rPr lang="he-IL" sz="800" dirty="0">
                    <a:solidFill>
                      <a:srgbClr val="E6E1F0"/>
                    </a:solidFill>
                  </a:rPr>
                  <a:t>מותקן</a:t>
                </a:r>
              </a:p>
            </p:txBody>
          </p:sp>
          <p:sp>
            <p:nvSpPr>
              <p:cNvPr id="46" name="תיבת טקסט 45">
                <a:extLst>
                  <a:ext uri="{FF2B5EF4-FFF2-40B4-BE49-F238E27FC236}">
                    <a16:creationId xmlns:a16="http://schemas.microsoft.com/office/drawing/2014/main" id="{E06087F2-A53B-435A-BD85-7ECC4A8285F5}"/>
                  </a:ext>
                </a:extLst>
              </p:cNvPr>
              <p:cNvSpPr txBox="1"/>
              <p:nvPr/>
            </p:nvSpPr>
            <p:spPr>
              <a:xfrm>
                <a:off x="3141932" y="4365625"/>
                <a:ext cx="597694" cy="127000"/>
              </a:xfrm>
              <a:prstGeom prst="rect">
                <a:avLst/>
              </a:prstGeom>
              <a:noFill/>
            </p:spPr>
            <p:txBody>
              <a:bodyPr vertOverflow="overflow" vert="horz" wrap="square" rtlCol="1" anchor="ctr" anchorCtr="0">
                <a:noAutofit/>
              </a:bodyPr>
              <a:lstStyle/>
              <a:p>
                <a:r>
                  <a:rPr lang="he-IL" sz="800" dirty="0">
                    <a:solidFill>
                      <a:srgbClr val="E6E1F0"/>
                    </a:solidFill>
                  </a:rPr>
                  <a:t>כן</a:t>
                </a:r>
              </a:p>
            </p:txBody>
          </p:sp>
          <p:sp>
            <p:nvSpPr>
              <p:cNvPr id="48" name="תיבת טקסט 47">
                <a:extLst>
                  <a:ext uri="{FF2B5EF4-FFF2-40B4-BE49-F238E27FC236}">
                    <a16:creationId xmlns:a16="http://schemas.microsoft.com/office/drawing/2014/main" id="{AF5FEA37-9F67-4D9A-AC31-AAE4D1609AF9}"/>
                  </a:ext>
                </a:extLst>
              </p:cNvPr>
              <p:cNvSpPr txBox="1"/>
              <p:nvPr/>
            </p:nvSpPr>
            <p:spPr>
              <a:xfrm>
                <a:off x="3092180" y="4521200"/>
                <a:ext cx="642938" cy="127000"/>
              </a:xfrm>
              <a:prstGeom prst="rect">
                <a:avLst/>
              </a:prstGeom>
              <a:noFill/>
            </p:spPr>
            <p:txBody>
              <a:bodyPr vertOverflow="overflow" vert="horz" wrap="square" rtlCol="1" anchor="ctr" anchorCtr="0">
                <a:noAutofit/>
              </a:bodyPr>
              <a:lstStyle/>
              <a:p>
                <a:r>
                  <a:rPr lang="he-IL" sz="800" dirty="0">
                    <a:solidFill>
                      <a:srgbClr val="E6E1F0"/>
                    </a:solidFill>
                  </a:rPr>
                  <a:t>תרגום פעיל</a:t>
                </a:r>
              </a:p>
            </p:txBody>
          </p:sp>
        </p:grpSp>
        <p:sp>
          <p:nvSpPr>
            <p:cNvPr id="78" name="מלבן: פינות מעוגלות 77">
              <a:extLst>
                <a:ext uri="{FF2B5EF4-FFF2-40B4-BE49-F238E27FC236}">
                  <a16:creationId xmlns:a16="http://schemas.microsoft.com/office/drawing/2014/main" id="{CFF9B838-AD21-1E3F-49E7-9006485B9D1F}"/>
                </a:ext>
              </a:extLst>
            </p:cNvPr>
            <p:cNvSpPr/>
            <p:nvPr/>
          </p:nvSpPr>
          <p:spPr>
            <a:xfrm>
              <a:off x="2531270" y="2577706"/>
              <a:ext cx="469900" cy="203200"/>
            </a:xfrm>
            <a:prstGeom prst="roundRect">
              <a:avLst/>
            </a:prstGeom>
            <a:solidFill>
              <a:srgbClr val="150F26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1" anchor="ctr" anchorCtr="0">
              <a:noAutofit/>
            </a:bodyPr>
            <a:lstStyle/>
            <a:p>
              <a:pPr algn="ctr"/>
              <a:r>
                <a:rPr lang="he-IL" sz="800" b="1" dirty="0">
                  <a:solidFill>
                    <a:schemeClr val="bg1"/>
                  </a:solidFill>
                </a:rPr>
                <a:t>עברית</a:t>
              </a:r>
            </a:p>
          </p:txBody>
        </p:sp>
        <p:sp>
          <p:nvSpPr>
            <p:cNvPr id="79" name="מלבן: פינות מעוגלות 78">
              <a:extLst>
                <a:ext uri="{FF2B5EF4-FFF2-40B4-BE49-F238E27FC236}">
                  <a16:creationId xmlns:a16="http://schemas.microsoft.com/office/drawing/2014/main" id="{B5561B81-9837-23FF-D3B9-1E6465D2F3A2}"/>
                </a:ext>
              </a:extLst>
            </p:cNvPr>
            <p:cNvSpPr/>
            <p:nvPr/>
          </p:nvSpPr>
          <p:spPr>
            <a:xfrm>
              <a:off x="1988345" y="2577706"/>
              <a:ext cx="469900" cy="203200"/>
            </a:xfrm>
            <a:prstGeom prst="roundRect">
              <a:avLst/>
            </a:prstGeom>
            <a:solidFill>
              <a:srgbClr val="150F26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1" anchor="ctr" anchorCtr="0">
              <a:noAutofit/>
            </a:bodyPr>
            <a:lstStyle/>
            <a:p>
              <a:pPr algn="ctr"/>
              <a:r>
                <a:rPr lang="he-IL" sz="800" b="1" dirty="0">
                  <a:solidFill>
                    <a:schemeClr val="bg1"/>
                  </a:solidFill>
                </a:rPr>
                <a:t>אנגלית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0714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25E5C464-2B76-4DBA-863A-816DE523AA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79300" cy="6845300"/>
          </a:xfrm>
          <a:prstGeom prst="rect">
            <a:avLst/>
          </a:prstGeom>
          <a:solidFill>
            <a:srgbClr val="0D0A1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 dirty="0"/>
          </a:p>
        </p:txBody>
      </p:sp>
      <p:sp>
        <p:nvSpPr>
          <p:cNvPr id="76" name="מלבן: פינות מעוגלות 75">
            <a:extLst>
              <a:ext uri="{FF2B5EF4-FFF2-40B4-BE49-F238E27FC236}">
                <a16:creationId xmlns:a16="http://schemas.microsoft.com/office/drawing/2014/main" id="{D3FAF2F3-A1CD-CFD3-75E8-AD9E6338EF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51000" y="298450"/>
            <a:ext cx="10414000" cy="6438900"/>
          </a:xfrm>
          <a:prstGeom prst="roundRect">
            <a:avLst>
              <a:gd name="adj" fmla="val 5414"/>
            </a:avLst>
          </a:prstGeom>
          <a:solidFill>
            <a:srgbClr val="150F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74560704-8EB1-4C54-87DA-25C4F2857606}"/>
              </a:ext>
            </a:extLst>
          </p:cNvPr>
          <p:cNvSpPr/>
          <p:nvPr/>
        </p:nvSpPr>
        <p:spPr>
          <a:xfrm>
            <a:off x="0" y="0"/>
            <a:ext cx="12179300" cy="190500"/>
          </a:xfrm>
          <a:prstGeom prst="rect">
            <a:avLst/>
          </a:prstGeom>
          <a:solidFill>
            <a:srgbClr val="08051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FC332BF8-7C47-486A-81EC-90664846F583}"/>
              </a:ext>
            </a:extLst>
          </p:cNvPr>
          <p:cNvSpPr txBox="1"/>
          <p:nvPr/>
        </p:nvSpPr>
        <p:spPr>
          <a:xfrm>
            <a:off x="0" y="-794"/>
            <a:ext cx="1202531" cy="1651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he-IL" sz="800" dirty="0">
                <a:solidFill>
                  <a:srgbClr val="C9C2D6"/>
                </a:solidFill>
              </a:rPr>
              <a:t>מנהל התרגומים הרשמי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A375D107-9AEF-4B17-89BE-D36272EE6958}"/>
              </a:ext>
            </a:extLst>
          </p:cNvPr>
          <p:cNvSpPr txBox="1"/>
          <p:nvPr/>
        </p:nvSpPr>
        <p:spPr>
          <a:xfrm>
            <a:off x="11416506" y="0"/>
            <a:ext cx="788987" cy="1651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800" dirty="0">
                <a:solidFill>
                  <a:srgbClr val="9A93AB"/>
                </a:solidFill>
              </a:rPr>
              <a:t>✕   ☐   ─</a:t>
            </a:r>
          </a:p>
        </p:txBody>
      </p:sp>
      <p:sp>
        <p:nvSpPr>
          <p:cNvPr id="7" name="אליפסה 6">
            <a:extLst>
              <a:ext uri="{FF2B5EF4-FFF2-40B4-BE49-F238E27FC236}">
                <a16:creationId xmlns:a16="http://schemas.microsoft.com/office/drawing/2014/main" id="{7ACF2BB7-5667-40A2-99D2-5FEB80870319}"/>
              </a:ext>
            </a:extLst>
          </p:cNvPr>
          <p:cNvSpPr/>
          <p:nvPr/>
        </p:nvSpPr>
        <p:spPr>
          <a:xfrm>
            <a:off x="393700" y="406400"/>
            <a:ext cx="393700" cy="393700"/>
          </a:xfrm>
          <a:prstGeom prst="ellipse">
            <a:avLst/>
          </a:prstGeom>
          <a:solidFill>
            <a:srgbClr val="1E1838"/>
          </a:solidFill>
          <a:ln w="19050" cap="flat" cmpd="sng" algn="ctr">
            <a:solidFill>
              <a:srgbClr val="13B5A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2B92F8D4-7196-4ED7-880E-58AB9F32D8D0}"/>
              </a:ext>
            </a:extLst>
          </p:cNvPr>
          <p:cNvSpPr txBox="1"/>
          <p:nvPr/>
        </p:nvSpPr>
        <p:spPr>
          <a:xfrm>
            <a:off x="825500" y="431800"/>
            <a:ext cx="660400" cy="1524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he-IL" sz="800" b="1">
                <a:solidFill>
                  <a:srgbClr val="FFFFFF"/>
                </a:solidFill>
              </a:rPr>
              <a:t>פרויקט התרגום</a:t>
            </a: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B68EAA7F-89C2-4083-85E1-3542A7FBAE57}"/>
              </a:ext>
            </a:extLst>
          </p:cNvPr>
          <p:cNvSpPr txBox="1"/>
          <p:nvPr/>
        </p:nvSpPr>
        <p:spPr>
          <a:xfrm>
            <a:off x="825500" y="584200"/>
            <a:ext cx="660400" cy="1143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600" b="1">
                <a:solidFill>
                  <a:srgbClr val="13B5A6"/>
                </a:solidFill>
              </a:rPr>
              <a:t>HEBREW AI</a:t>
            </a:r>
            <a:endParaRPr lang="he-IL" sz="600" b="1">
              <a:solidFill>
                <a:srgbClr val="13B5A6"/>
              </a:solidFill>
            </a:endParaRP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93E411EF-F862-4E81-8F33-81AF5CBB358F}"/>
              </a:ext>
            </a:extLst>
          </p:cNvPr>
          <p:cNvSpPr/>
          <p:nvPr/>
        </p:nvSpPr>
        <p:spPr>
          <a:xfrm>
            <a:off x="203200" y="1193800"/>
            <a:ext cx="1295400" cy="254000"/>
          </a:xfrm>
          <a:prstGeom prst="roundRect">
            <a:avLst/>
          </a:prstGeom>
          <a:solidFill>
            <a:srgbClr val="261C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 dirty="0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13A215F6-C941-4BBA-9CAD-E135D0860571}"/>
              </a:ext>
            </a:extLst>
          </p:cNvPr>
          <p:cNvSpPr/>
          <p:nvPr/>
        </p:nvSpPr>
        <p:spPr>
          <a:xfrm>
            <a:off x="1473995" y="1206500"/>
            <a:ext cx="25400" cy="215900"/>
          </a:xfrm>
          <a:prstGeom prst="rect">
            <a:avLst/>
          </a:prstGeom>
          <a:solidFill>
            <a:srgbClr val="F4D70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DC5EBE6B-687E-46A7-A7C6-54871A2C7D75}"/>
              </a:ext>
            </a:extLst>
          </p:cNvPr>
          <p:cNvSpPr txBox="1"/>
          <p:nvPr/>
        </p:nvSpPr>
        <p:spPr>
          <a:xfrm>
            <a:off x="520700" y="889000"/>
            <a:ext cx="901700" cy="1905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900" dirty="0">
                <a:solidFill>
                  <a:srgbClr val="C2BBD2"/>
                </a:solidFill>
              </a:rPr>
              <a:t>דף הבית</a:t>
            </a: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35751BBB-BF27-414E-83FC-E23731965DD3}"/>
              </a:ext>
            </a:extLst>
          </p:cNvPr>
          <p:cNvSpPr txBox="1"/>
          <p:nvPr/>
        </p:nvSpPr>
        <p:spPr>
          <a:xfrm>
            <a:off x="520700" y="1210733"/>
            <a:ext cx="901700" cy="1905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900" b="1">
                <a:solidFill>
                  <a:srgbClr val="FFFFFF"/>
                </a:solidFill>
              </a:rPr>
              <a:t>ספרייה</a:t>
            </a: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CE253286-92D3-44A9-B7BA-F201275C32D0}"/>
              </a:ext>
            </a:extLst>
          </p:cNvPr>
          <p:cNvSpPr txBox="1"/>
          <p:nvPr/>
        </p:nvSpPr>
        <p:spPr>
          <a:xfrm>
            <a:off x="304800" y="1532466"/>
            <a:ext cx="1104900" cy="1905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900" dirty="0">
                <a:solidFill>
                  <a:srgbClr val="C2BBD2"/>
                </a:solidFill>
              </a:rPr>
              <a:t>הורדות ועדכונים</a:t>
            </a: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20770CBE-8154-4B1E-A761-2354E1EA65AB}"/>
              </a:ext>
            </a:extLst>
          </p:cNvPr>
          <p:cNvSpPr txBox="1"/>
          <p:nvPr/>
        </p:nvSpPr>
        <p:spPr>
          <a:xfrm>
            <a:off x="520700" y="1854200"/>
            <a:ext cx="901700" cy="1905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900">
                <a:solidFill>
                  <a:srgbClr val="C2BBD2"/>
                </a:solidFill>
              </a:rPr>
              <a:t>אזור אישי</a:t>
            </a:r>
          </a:p>
        </p:txBody>
      </p:sp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70905588-EDC1-44EA-BF86-8B6894DF3879}"/>
              </a:ext>
            </a:extLst>
          </p:cNvPr>
          <p:cNvSpPr/>
          <p:nvPr/>
        </p:nvSpPr>
        <p:spPr>
          <a:xfrm>
            <a:off x="190500" y="5562600"/>
            <a:ext cx="1333500" cy="355600"/>
          </a:xfrm>
          <a:prstGeom prst="roundRect">
            <a:avLst>
              <a:gd name="adj" fmla="val 26712"/>
            </a:avLst>
          </a:prstGeom>
          <a:solidFill>
            <a:srgbClr val="1C1530"/>
          </a:solidFill>
          <a:ln w="12700" cap="flat" cmpd="sng" algn="ctr">
            <a:solidFill>
              <a:srgbClr val="2C24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7" name="אליפסה 16">
            <a:extLst>
              <a:ext uri="{FF2B5EF4-FFF2-40B4-BE49-F238E27FC236}">
                <a16:creationId xmlns:a16="http://schemas.microsoft.com/office/drawing/2014/main" id="{E105417C-FA1B-4EE4-8883-4779ECBFB46A}"/>
              </a:ext>
            </a:extLst>
          </p:cNvPr>
          <p:cNvSpPr/>
          <p:nvPr/>
        </p:nvSpPr>
        <p:spPr>
          <a:xfrm>
            <a:off x="1270000" y="5613400"/>
            <a:ext cx="241300" cy="241300"/>
          </a:xfrm>
          <a:prstGeom prst="ellipse">
            <a:avLst/>
          </a:prstGeom>
          <a:solidFill>
            <a:srgbClr val="3A2E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9" name="מלבן: פינות מעוגלות 18">
            <a:extLst>
              <a:ext uri="{FF2B5EF4-FFF2-40B4-BE49-F238E27FC236}">
                <a16:creationId xmlns:a16="http://schemas.microsoft.com/office/drawing/2014/main" id="{5C839C40-AFF3-4625-A9BB-902E45DA7A70}"/>
              </a:ext>
            </a:extLst>
          </p:cNvPr>
          <p:cNvSpPr/>
          <p:nvPr/>
        </p:nvSpPr>
        <p:spPr>
          <a:xfrm>
            <a:off x="225424" y="5689600"/>
            <a:ext cx="315120" cy="88900"/>
          </a:xfrm>
          <a:prstGeom prst="roundRect">
            <a:avLst>
              <a:gd name="adj" fmla="val 35417"/>
            </a:avLst>
          </a:prstGeom>
          <a:solidFill>
            <a:srgbClr val="7A22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5891842A-E6D8-411D-85C7-B727B99ECD82}"/>
              </a:ext>
            </a:extLst>
          </p:cNvPr>
          <p:cNvSpPr txBox="1"/>
          <p:nvPr/>
        </p:nvSpPr>
        <p:spPr>
          <a:xfrm>
            <a:off x="214312" y="5676900"/>
            <a:ext cx="358775" cy="1016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he-IL" sz="600" dirty="0">
                <a:solidFill>
                  <a:srgbClr val="E89AA6"/>
                </a:solidFill>
              </a:rPr>
              <a:t>יציאה</a:t>
            </a:r>
          </a:p>
        </p:txBody>
      </p:sp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5938ED61-EEE8-4E13-9344-80ECF06DC4CE}"/>
              </a:ext>
            </a:extLst>
          </p:cNvPr>
          <p:cNvSpPr txBox="1"/>
          <p:nvPr/>
        </p:nvSpPr>
        <p:spPr>
          <a:xfrm>
            <a:off x="101840" y="6639869"/>
            <a:ext cx="1333500" cy="1143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600" dirty="0">
                <a:solidFill>
                  <a:srgbClr val="7A7290"/>
                </a:solidFill>
              </a:rPr>
              <a:t>v1.0.0-dev.6  © 2026</a:t>
            </a:r>
            <a:endParaRPr lang="he-IL" sz="600" dirty="0">
              <a:solidFill>
                <a:srgbClr val="7A7290"/>
              </a:solidFill>
            </a:endParaRPr>
          </a:p>
        </p:txBody>
      </p:sp>
      <p:sp>
        <p:nvSpPr>
          <p:cNvPr id="49" name="תיבת טקסט 48">
            <a:extLst>
              <a:ext uri="{FF2B5EF4-FFF2-40B4-BE49-F238E27FC236}">
                <a16:creationId xmlns:a16="http://schemas.microsoft.com/office/drawing/2014/main" id="{7F15226F-4A24-414A-90AA-68236EEB1D86}"/>
              </a:ext>
            </a:extLst>
          </p:cNvPr>
          <p:cNvSpPr txBox="1"/>
          <p:nvPr/>
        </p:nvSpPr>
        <p:spPr>
          <a:xfrm>
            <a:off x="10926365" y="396875"/>
            <a:ext cx="880269" cy="1524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800" dirty="0">
                <a:solidFill>
                  <a:srgbClr val="B9B2C9"/>
                </a:solidFill>
              </a:rPr>
              <a:t>← חזרה לספרייה</a:t>
            </a:r>
          </a:p>
        </p:txBody>
      </p:sp>
      <p:sp>
        <p:nvSpPr>
          <p:cNvPr id="50" name="תיבת טקסט 49">
            <a:extLst>
              <a:ext uri="{FF2B5EF4-FFF2-40B4-BE49-F238E27FC236}">
                <a16:creationId xmlns:a16="http://schemas.microsoft.com/office/drawing/2014/main" id="{9D0C11DC-61AC-4D1E-B7A5-6DE33CC16AB5}"/>
              </a:ext>
            </a:extLst>
          </p:cNvPr>
          <p:cNvSpPr txBox="1"/>
          <p:nvPr/>
        </p:nvSpPr>
        <p:spPr>
          <a:xfrm>
            <a:off x="4502744" y="685800"/>
            <a:ext cx="2984979" cy="3556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en-US" sz="2700" b="1" dirty="0">
                <a:solidFill>
                  <a:srgbClr val="F4D70A"/>
                </a:solidFill>
              </a:rPr>
              <a:t>Cyberpunk 2077</a:t>
            </a:r>
            <a:endParaRPr lang="he-IL" sz="2700" b="1" dirty="0">
              <a:solidFill>
                <a:srgbClr val="F4D70A"/>
              </a:solidFill>
            </a:endParaRPr>
          </a:p>
        </p:txBody>
      </p:sp>
      <p:grpSp>
        <p:nvGrpSpPr>
          <p:cNvPr id="34" name="קבוצה 33">
            <a:extLst>
              <a:ext uri="{FF2B5EF4-FFF2-40B4-BE49-F238E27FC236}">
                <a16:creationId xmlns:a16="http://schemas.microsoft.com/office/drawing/2014/main" id="{F315BBD8-89AB-8433-7B66-061C01509DA1}"/>
              </a:ext>
            </a:extLst>
          </p:cNvPr>
          <p:cNvGrpSpPr/>
          <p:nvPr/>
        </p:nvGrpSpPr>
        <p:grpSpPr>
          <a:xfrm>
            <a:off x="4618956" y="1198352"/>
            <a:ext cx="2002768" cy="165100"/>
            <a:chOff x="4515444" y="1181100"/>
            <a:chExt cx="2002768" cy="165100"/>
          </a:xfrm>
        </p:grpSpPr>
        <p:sp>
          <p:nvSpPr>
            <p:cNvPr id="51" name="מלבן: פינות מעוגלות 50">
              <a:extLst>
                <a:ext uri="{FF2B5EF4-FFF2-40B4-BE49-F238E27FC236}">
                  <a16:creationId xmlns:a16="http://schemas.microsoft.com/office/drawing/2014/main" id="{3B4A1586-803A-4E96-9FDA-503D1AEAEB28}"/>
                </a:ext>
              </a:extLst>
            </p:cNvPr>
            <p:cNvSpPr/>
            <p:nvPr/>
          </p:nvSpPr>
          <p:spPr>
            <a:xfrm>
              <a:off x="4515444" y="1181100"/>
              <a:ext cx="520700" cy="165100"/>
            </a:xfrm>
            <a:prstGeom prst="roundRect">
              <a:avLst>
                <a:gd name="adj" fmla="val 50000"/>
              </a:avLst>
            </a:prstGeom>
            <a:solidFill>
              <a:srgbClr val="1B7A4A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1" anchor="ctr" anchorCtr="0">
              <a:noAutofit/>
            </a:bodyPr>
            <a:lstStyle/>
            <a:p>
              <a:pPr algn="ctr"/>
              <a:r>
                <a:rPr lang="he-IL" sz="700" b="1" dirty="0">
                  <a:solidFill>
                    <a:srgbClr val="FFFFFF"/>
                  </a:solidFill>
                </a:rPr>
                <a:t>✓ נרכש</a:t>
              </a:r>
            </a:p>
          </p:txBody>
        </p:sp>
        <p:sp>
          <p:nvSpPr>
            <p:cNvPr id="52" name="מלבן: פינות מעוגלות 51">
              <a:extLst>
                <a:ext uri="{FF2B5EF4-FFF2-40B4-BE49-F238E27FC236}">
                  <a16:creationId xmlns:a16="http://schemas.microsoft.com/office/drawing/2014/main" id="{5715DFC7-B00E-4C04-99F3-A58D3C3359A1}"/>
                </a:ext>
              </a:extLst>
            </p:cNvPr>
            <p:cNvSpPr/>
            <p:nvPr/>
          </p:nvSpPr>
          <p:spPr>
            <a:xfrm>
              <a:off x="5086944" y="1181100"/>
              <a:ext cx="685800" cy="165100"/>
            </a:xfrm>
            <a:prstGeom prst="roundRect">
              <a:avLst>
                <a:gd name="adj" fmla="val 50000"/>
              </a:avLst>
            </a:prstGeom>
            <a:solidFill>
              <a:srgbClr val="1B7A4A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1" anchor="ctr" anchorCtr="0">
              <a:noAutofit/>
            </a:bodyPr>
            <a:lstStyle/>
            <a:p>
              <a:pPr algn="ctr"/>
              <a:r>
                <a:rPr lang="he-IL" sz="700" b="1" dirty="0">
                  <a:solidFill>
                    <a:srgbClr val="FFFFFF"/>
                  </a:solidFill>
                </a:rPr>
                <a:t>תרגום מותקן</a:t>
              </a:r>
            </a:p>
          </p:txBody>
        </p:sp>
        <p:sp>
          <p:nvSpPr>
            <p:cNvPr id="55" name="מלבן: פינות מעוגלות 54">
              <a:extLst>
                <a:ext uri="{FF2B5EF4-FFF2-40B4-BE49-F238E27FC236}">
                  <a16:creationId xmlns:a16="http://schemas.microsoft.com/office/drawing/2014/main" id="{1DFC0180-BB77-4EC6-87B2-E603E31B19C8}"/>
                </a:ext>
              </a:extLst>
            </p:cNvPr>
            <p:cNvSpPr/>
            <p:nvPr/>
          </p:nvSpPr>
          <p:spPr>
            <a:xfrm>
              <a:off x="5832412" y="1181100"/>
              <a:ext cx="685800" cy="165100"/>
            </a:xfrm>
            <a:prstGeom prst="roundRect">
              <a:avLst>
                <a:gd name="adj" fmla="val 50000"/>
              </a:avLst>
            </a:prstGeom>
            <a:solidFill>
              <a:srgbClr val="2A2438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1" anchor="ctr" anchorCtr="0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C9C2D6"/>
                  </a:solidFill>
                </a:rPr>
                <a:t>v1.0.0-beta.3</a:t>
              </a:r>
              <a:endParaRPr lang="he-IL" sz="700" b="1" dirty="0">
                <a:solidFill>
                  <a:srgbClr val="C9C2D6"/>
                </a:solidFill>
              </a:endParaRPr>
            </a:p>
          </p:txBody>
        </p:sp>
      </p:grpSp>
      <p:sp>
        <p:nvSpPr>
          <p:cNvPr id="60" name="תיבת טקסט 59">
            <a:extLst>
              <a:ext uri="{FF2B5EF4-FFF2-40B4-BE49-F238E27FC236}">
                <a16:creationId xmlns:a16="http://schemas.microsoft.com/office/drawing/2014/main" id="{80B3A6A2-3E08-40EE-8413-D0994C6F9579}"/>
              </a:ext>
            </a:extLst>
          </p:cNvPr>
          <p:cNvSpPr txBox="1"/>
          <p:nvPr/>
        </p:nvSpPr>
        <p:spPr>
          <a:xfrm>
            <a:off x="4417200" y="1593808"/>
            <a:ext cx="3639748" cy="26694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1300" b="1" dirty="0">
                <a:solidFill>
                  <a:srgbClr val="FFFFFF"/>
                </a:solidFill>
              </a:rPr>
              <a:t>היכנסו לעולמו של </a:t>
            </a:r>
            <a:r>
              <a:rPr lang="en-US" sz="1300" b="1" dirty="0">
                <a:solidFill>
                  <a:srgbClr val="FFFFFF"/>
                </a:solidFill>
              </a:rPr>
              <a:t>V</a:t>
            </a:r>
            <a:r>
              <a:rPr lang="he-IL" sz="1300" b="1" dirty="0">
                <a:solidFill>
                  <a:srgbClr val="FFFFFF"/>
                </a:solidFill>
              </a:rPr>
              <a:t> ברחובות </a:t>
            </a:r>
            <a:r>
              <a:rPr lang="he-IL" sz="1300" b="1" dirty="0" err="1">
                <a:solidFill>
                  <a:srgbClr val="FFFFFF"/>
                </a:solidFill>
              </a:rPr>
              <a:t>נייט</a:t>
            </a:r>
            <a:r>
              <a:rPr lang="he-IL" sz="1300" b="1" dirty="0">
                <a:solidFill>
                  <a:srgbClr val="FFFFFF"/>
                </a:solidFill>
              </a:rPr>
              <a:t> סיטי</a:t>
            </a:r>
          </a:p>
        </p:txBody>
      </p:sp>
      <p:sp>
        <p:nvSpPr>
          <p:cNvPr id="61" name="תיבת טקסט 60">
            <a:extLst>
              <a:ext uri="{FF2B5EF4-FFF2-40B4-BE49-F238E27FC236}">
                <a16:creationId xmlns:a16="http://schemas.microsoft.com/office/drawing/2014/main" id="{D527EC53-523D-4B17-A2D6-45D649C4E8D6}"/>
              </a:ext>
            </a:extLst>
          </p:cNvPr>
          <p:cNvSpPr txBox="1"/>
          <p:nvPr/>
        </p:nvSpPr>
        <p:spPr>
          <a:xfrm>
            <a:off x="4443798" y="1898608"/>
            <a:ext cx="3604645" cy="501692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800" dirty="0">
                <a:solidFill>
                  <a:srgbClr val="B9B2C9"/>
                </a:solidFill>
              </a:rPr>
              <a:t>תרגום ענק המקיף מאות אלפי שורות דיאלוג, סלנג רחוב מחוספס ואווירה טכנולוגית ואווירה בלתי נשכחת — עכשיו בעברית.</a:t>
            </a:r>
          </a:p>
        </p:txBody>
      </p:sp>
      <p:sp>
        <p:nvSpPr>
          <p:cNvPr id="62" name="מלבן: פינות מעוגלות 61">
            <a:extLst>
              <a:ext uri="{FF2B5EF4-FFF2-40B4-BE49-F238E27FC236}">
                <a16:creationId xmlns:a16="http://schemas.microsoft.com/office/drawing/2014/main" id="{3A967588-B54B-42C1-A05E-72E03C87B066}"/>
              </a:ext>
            </a:extLst>
          </p:cNvPr>
          <p:cNvSpPr/>
          <p:nvPr/>
        </p:nvSpPr>
        <p:spPr>
          <a:xfrm>
            <a:off x="10744200" y="2170262"/>
            <a:ext cx="990600" cy="381000"/>
          </a:xfrm>
          <a:prstGeom prst="roundRect">
            <a:avLst/>
          </a:prstGeom>
          <a:solidFill>
            <a:srgbClr val="2A2438"/>
          </a:solidFill>
          <a:ln w="12700" cap="flat" cmpd="sng" algn="ctr">
            <a:solidFill>
              <a:srgbClr val="3A33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1" anchor="ctr" anchorCtr="0">
            <a:noAutofit/>
          </a:bodyPr>
          <a:lstStyle/>
          <a:p>
            <a:pPr algn="ctr"/>
            <a:r>
              <a:rPr lang="he-IL" sz="1000">
                <a:solidFill>
                  <a:srgbClr val="D6D0E2"/>
                </a:solidFill>
              </a:rPr>
              <a:t>התקנה מחדש</a:t>
            </a:r>
          </a:p>
        </p:txBody>
      </p:sp>
      <p:sp>
        <p:nvSpPr>
          <p:cNvPr id="63" name="מלבן: פינות מעוגלות 62">
            <a:extLst>
              <a:ext uri="{FF2B5EF4-FFF2-40B4-BE49-F238E27FC236}">
                <a16:creationId xmlns:a16="http://schemas.microsoft.com/office/drawing/2014/main" id="{C18A1F89-A7BC-4BD9-A607-4CFB7FC7A5AE}"/>
              </a:ext>
            </a:extLst>
          </p:cNvPr>
          <p:cNvSpPr/>
          <p:nvPr/>
        </p:nvSpPr>
        <p:spPr>
          <a:xfrm>
            <a:off x="10744200" y="1663700"/>
            <a:ext cx="990600" cy="381000"/>
          </a:xfrm>
          <a:prstGeom prst="roundRect">
            <a:avLst/>
          </a:prstGeom>
          <a:solidFill>
            <a:srgbClr val="5E1E2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1" anchor="ctr" anchorCtr="0">
            <a:noAutofit/>
          </a:bodyPr>
          <a:lstStyle/>
          <a:p>
            <a:pPr algn="ctr"/>
            <a:r>
              <a:rPr lang="he-IL" sz="1000">
                <a:solidFill>
                  <a:srgbClr val="F0A8B4"/>
                </a:solidFill>
              </a:rPr>
              <a:t>הסרת התרגום</a:t>
            </a:r>
          </a:p>
        </p:txBody>
      </p:sp>
      <p:sp>
        <p:nvSpPr>
          <p:cNvPr id="64" name="מלבן: פינות מעוגלות 63">
            <a:extLst>
              <a:ext uri="{FF2B5EF4-FFF2-40B4-BE49-F238E27FC236}">
                <a16:creationId xmlns:a16="http://schemas.microsoft.com/office/drawing/2014/main" id="{00BFF788-C153-4F1B-9C3C-7D2E7A9435B7}"/>
              </a:ext>
            </a:extLst>
          </p:cNvPr>
          <p:cNvSpPr/>
          <p:nvPr/>
        </p:nvSpPr>
        <p:spPr>
          <a:xfrm>
            <a:off x="10744200" y="1157138"/>
            <a:ext cx="990600" cy="381000"/>
          </a:xfrm>
          <a:prstGeom prst="roundRect">
            <a:avLst/>
          </a:prstGeom>
          <a:solidFill>
            <a:srgbClr val="F4D70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1" anchor="ctr" anchorCtr="0">
            <a:noAutofit/>
          </a:bodyPr>
          <a:lstStyle/>
          <a:p>
            <a:pPr algn="l"/>
            <a:r>
              <a:rPr lang="he-IL" sz="1200" b="1" dirty="0">
                <a:solidFill>
                  <a:srgbClr val="1A1A1A"/>
                </a:solidFill>
              </a:rPr>
              <a:t>▶  הפעל</a:t>
            </a:r>
          </a:p>
        </p:txBody>
      </p:sp>
      <p:grpSp>
        <p:nvGrpSpPr>
          <p:cNvPr id="32" name="קבוצה 31">
            <a:extLst>
              <a:ext uri="{FF2B5EF4-FFF2-40B4-BE49-F238E27FC236}">
                <a16:creationId xmlns:a16="http://schemas.microsoft.com/office/drawing/2014/main" id="{9C17B39B-D3BE-D7D6-EDC9-06D4F5AAA0C4}"/>
              </a:ext>
            </a:extLst>
          </p:cNvPr>
          <p:cNvGrpSpPr/>
          <p:nvPr/>
        </p:nvGrpSpPr>
        <p:grpSpPr>
          <a:xfrm>
            <a:off x="1812744" y="453366"/>
            <a:ext cx="2463800" cy="3797300"/>
            <a:chOff x="9436100" y="647700"/>
            <a:chExt cx="2463800" cy="3797300"/>
          </a:xfrm>
        </p:grpSpPr>
        <p:sp>
          <p:nvSpPr>
            <p:cNvPr id="65" name="מלבן: פינות מעוגלות 64">
              <a:extLst>
                <a:ext uri="{FF2B5EF4-FFF2-40B4-BE49-F238E27FC236}">
                  <a16:creationId xmlns:a16="http://schemas.microsoft.com/office/drawing/2014/main" id="{8D1D28D1-DB03-4835-976C-ED3401732425}"/>
                </a:ext>
              </a:extLst>
            </p:cNvPr>
            <p:cNvSpPr/>
            <p:nvPr/>
          </p:nvSpPr>
          <p:spPr>
            <a:xfrm>
              <a:off x="9436100" y="647700"/>
              <a:ext cx="2463800" cy="3797300"/>
            </a:xfrm>
            <a:prstGeom prst="roundRect">
              <a:avLst>
                <a:gd name="adj" fmla="val 8259"/>
              </a:avLst>
            </a:prstGeom>
            <a:solidFill>
              <a:srgbClr val="F4D70A"/>
            </a:solidFill>
            <a:ln w="25400" cap="flat" cmpd="sng" algn="ctr">
              <a:solidFill>
                <a:srgbClr val="F4D70A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1" anchor="t"/>
            <a:lstStyle/>
            <a:p>
              <a:pPr algn="l"/>
              <a:endParaRPr lang="he-IL"/>
            </a:p>
          </p:txBody>
        </p:sp>
        <p:sp>
          <p:nvSpPr>
            <p:cNvPr id="66" name="מלבן: פינות מעוגלות 65">
              <a:extLst>
                <a:ext uri="{FF2B5EF4-FFF2-40B4-BE49-F238E27FC236}">
                  <a16:creationId xmlns:a16="http://schemas.microsoft.com/office/drawing/2014/main" id="{FFF29B85-B975-436F-8A5C-680540FCEC7F}"/>
                </a:ext>
              </a:extLst>
            </p:cNvPr>
            <p:cNvSpPr/>
            <p:nvPr/>
          </p:nvSpPr>
          <p:spPr>
            <a:xfrm>
              <a:off x="9525000" y="736600"/>
              <a:ext cx="2286000" cy="3619500"/>
            </a:xfrm>
            <a:prstGeom prst="roundRect">
              <a:avLst>
                <a:gd name="adj" fmla="val 5521"/>
              </a:avLst>
            </a:prstGeom>
            <a:solidFill>
              <a:srgbClr val="E6C800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1" anchor="t"/>
            <a:lstStyle/>
            <a:p>
              <a:pPr algn="l"/>
              <a:endParaRPr lang="he-IL"/>
            </a:p>
          </p:txBody>
        </p:sp>
        <p:sp>
          <p:nvSpPr>
            <p:cNvPr id="67" name="תיבת טקסט 66">
              <a:extLst>
                <a:ext uri="{FF2B5EF4-FFF2-40B4-BE49-F238E27FC236}">
                  <a16:creationId xmlns:a16="http://schemas.microsoft.com/office/drawing/2014/main" id="{DF2D64FB-C829-465E-AD60-70FD5D4B839A}"/>
                </a:ext>
              </a:extLst>
            </p:cNvPr>
            <p:cNvSpPr txBox="1"/>
            <p:nvPr/>
          </p:nvSpPr>
          <p:spPr>
            <a:xfrm>
              <a:off x="9664700" y="3644900"/>
              <a:ext cx="1993900" cy="254000"/>
            </a:xfrm>
            <a:prstGeom prst="rect">
              <a:avLst/>
            </a:prstGeom>
            <a:noFill/>
          </p:spPr>
          <p:txBody>
            <a:bodyPr vertOverflow="overflow" vert="horz" wrap="square" rtlCol="1" anchor="ctr" anchorCtr="0">
              <a:noAutofit/>
            </a:bodyPr>
            <a:lstStyle/>
            <a:p>
              <a:pPr algn="l"/>
              <a:r>
                <a:rPr lang="en-US" b="1">
                  <a:solidFill>
                    <a:srgbClr val="111111"/>
                  </a:solidFill>
                </a:rPr>
                <a:t>CYBERPUNK</a:t>
              </a:r>
              <a:endParaRPr lang="he-IL" b="1">
                <a:solidFill>
                  <a:srgbClr val="111111"/>
                </a:solidFill>
              </a:endParaRPr>
            </a:p>
          </p:txBody>
        </p:sp>
        <p:sp>
          <p:nvSpPr>
            <p:cNvPr id="68" name="תיבת טקסט 67">
              <a:extLst>
                <a:ext uri="{FF2B5EF4-FFF2-40B4-BE49-F238E27FC236}">
                  <a16:creationId xmlns:a16="http://schemas.microsoft.com/office/drawing/2014/main" id="{5E3AC11B-8FD9-433C-881E-DBD2AE442722}"/>
                </a:ext>
              </a:extLst>
            </p:cNvPr>
            <p:cNvSpPr txBox="1"/>
            <p:nvPr/>
          </p:nvSpPr>
          <p:spPr>
            <a:xfrm>
              <a:off x="9664700" y="3898900"/>
              <a:ext cx="1993900" cy="215900"/>
            </a:xfrm>
            <a:prstGeom prst="rect">
              <a:avLst/>
            </a:prstGeom>
            <a:noFill/>
          </p:spPr>
          <p:txBody>
            <a:bodyPr vertOverflow="overflow" vert="horz" wrap="square" rtlCol="1" anchor="ctr" anchorCtr="0">
              <a:noAutofit/>
            </a:bodyPr>
            <a:lstStyle/>
            <a:p>
              <a:pPr algn="l"/>
              <a:r>
                <a:rPr lang="he-IL" sz="1400" b="1">
                  <a:solidFill>
                    <a:srgbClr val="111111"/>
                  </a:solidFill>
                </a:rPr>
                <a:t>2077</a:t>
              </a:r>
            </a:p>
          </p:txBody>
        </p:sp>
      </p:grpSp>
      <p:pic>
        <p:nvPicPr>
          <p:cNvPr id="69" name="Graphic 69" descr="logo char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300" y="495300"/>
            <a:ext cx="215900" cy="215900"/>
          </a:xfrm>
          <a:prstGeom prst="rect">
            <a:avLst/>
          </a:prstGeom>
        </p:spPr>
      </p:pic>
      <p:pic>
        <p:nvPicPr>
          <p:cNvPr id="70" name="Graphic 70" descr="home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100" y="927100"/>
            <a:ext cx="165100" cy="165100"/>
          </a:xfrm>
          <a:prstGeom prst="rect">
            <a:avLst/>
          </a:prstGeom>
        </p:spPr>
      </p:pic>
      <p:pic>
        <p:nvPicPr>
          <p:cNvPr id="71" name="Graphic 71" descr="library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100" y="1244601"/>
            <a:ext cx="165100" cy="165100"/>
          </a:xfrm>
          <a:prstGeom prst="rect">
            <a:avLst/>
          </a:prstGeom>
        </p:spPr>
      </p:pic>
      <p:pic>
        <p:nvPicPr>
          <p:cNvPr id="72" name="Graphic 72" descr="downloads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9400" y="1561309"/>
            <a:ext cx="165100" cy="165100"/>
          </a:xfrm>
          <a:prstGeom prst="rect">
            <a:avLst/>
          </a:prstGeom>
        </p:spPr>
      </p:pic>
      <p:pic>
        <p:nvPicPr>
          <p:cNvPr id="73" name="Graphic 73" descr="account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2100" y="1879600"/>
            <a:ext cx="165100" cy="165100"/>
          </a:xfrm>
          <a:prstGeom prst="rect">
            <a:avLst/>
          </a:prstGeom>
        </p:spPr>
      </p:pic>
      <p:sp>
        <p:nvSpPr>
          <p:cNvPr id="80" name="מלבן: פינות מעוגלות 79">
            <a:extLst>
              <a:ext uri="{FF2B5EF4-FFF2-40B4-BE49-F238E27FC236}">
                <a16:creationId xmlns:a16="http://schemas.microsoft.com/office/drawing/2014/main" id="{0248E990-9A68-08B8-8926-0744C9631405}"/>
              </a:ext>
            </a:extLst>
          </p:cNvPr>
          <p:cNvSpPr/>
          <p:nvPr/>
        </p:nvSpPr>
        <p:spPr>
          <a:xfrm>
            <a:off x="1812744" y="4600365"/>
            <a:ext cx="10087156" cy="1932991"/>
          </a:xfrm>
          <a:prstGeom prst="roundRect">
            <a:avLst>
              <a:gd name="adj" fmla="val 14504"/>
            </a:avLst>
          </a:prstGeom>
          <a:solidFill>
            <a:srgbClr val="2D2050"/>
          </a:solidFill>
          <a:ln w="31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r" rtl="0"/>
            <a:endParaRPr lang="he-IL" dirty="0"/>
          </a:p>
        </p:txBody>
      </p:sp>
      <p:sp>
        <p:nvSpPr>
          <p:cNvPr id="83" name="תיבת טקסט 82">
            <a:extLst>
              <a:ext uri="{FF2B5EF4-FFF2-40B4-BE49-F238E27FC236}">
                <a16:creationId xmlns:a16="http://schemas.microsoft.com/office/drawing/2014/main" id="{AF3DF4E1-52CC-B50D-E87F-ABF40520132F}"/>
              </a:ext>
            </a:extLst>
          </p:cNvPr>
          <p:cNvSpPr txBox="1"/>
          <p:nvPr/>
        </p:nvSpPr>
        <p:spPr>
          <a:xfrm>
            <a:off x="10800032" y="4676565"/>
            <a:ext cx="977900" cy="2032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1300" b="1" dirty="0">
                <a:solidFill>
                  <a:srgbClr val="FFFFFF"/>
                </a:solidFill>
              </a:rPr>
              <a:t>הגדרות</a:t>
            </a:r>
          </a:p>
        </p:txBody>
      </p:sp>
      <p:sp>
        <p:nvSpPr>
          <p:cNvPr id="84" name="תיבת טקסט 83">
            <a:extLst>
              <a:ext uri="{FF2B5EF4-FFF2-40B4-BE49-F238E27FC236}">
                <a16:creationId xmlns:a16="http://schemas.microsoft.com/office/drawing/2014/main" id="{EB3E61E6-3AAC-3C06-D40E-A5148ECFABF2}"/>
              </a:ext>
            </a:extLst>
          </p:cNvPr>
          <p:cNvSpPr txBox="1"/>
          <p:nvPr/>
        </p:nvSpPr>
        <p:spPr>
          <a:xfrm>
            <a:off x="10626409" y="4994065"/>
            <a:ext cx="1151523" cy="1270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800" dirty="0">
                <a:solidFill>
                  <a:srgbClr val="9A93AB"/>
                </a:solidFill>
              </a:rPr>
              <a:t>נתיב התקנה</a:t>
            </a:r>
          </a:p>
        </p:txBody>
      </p:sp>
      <p:sp>
        <p:nvSpPr>
          <p:cNvPr id="85" name="מלבן: פינות מעוגלות 84">
            <a:extLst>
              <a:ext uri="{FF2B5EF4-FFF2-40B4-BE49-F238E27FC236}">
                <a16:creationId xmlns:a16="http://schemas.microsoft.com/office/drawing/2014/main" id="{407F3F8E-B514-7EE6-DCD9-9B92D2EE0142}"/>
              </a:ext>
            </a:extLst>
          </p:cNvPr>
          <p:cNvSpPr/>
          <p:nvPr/>
        </p:nvSpPr>
        <p:spPr>
          <a:xfrm>
            <a:off x="10075653" y="5159165"/>
            <a:ext cx="1340853" cy="230652"/>
          </a:xfrm>
          <a:prstGeom prst="roundRect">
            <a:avLst/>
          </a:prstGeom>
          <a:solidFill>
            <a:srgbClr val="1C1730"/>
          </a:solidFill>
          <a:ln w="12700" cap="flat" cmpd="sng" algn="ctr">
            <a:solidFill>
              <a:srgbClr val="2E27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1" anchor="ctr" anchorCtr="0">
            <a:noAutofit/>
          </a:bodyPr>
          <a:lstStyle/>
          <a:p>
            <a:pPr algn="l"/>
            <a:r>
              <a:rPr lang="en-US" sz="800" dirty="0">
                <a:solidFill>
                  <a:srgbClr val="E6E1F0"/>
                </a:solidFill>
              </a:rPr>
              <a:t>C:\Games\Cyberpunk 2077</a:t>
            </a:r>
            <a:endParaRPr lang="he-IL" sz="800" dirty="0">
              <a:solidFill>
                <a:srgbClr val="E6E1F0"/>
              </a:solidFill>
            </a:endParaRPr>
          </a:p>
        </p:txBody>
      </p:sp>
      <p:sp>
        <p:nvSpPr>
          <p:cNvPr id="86" name="מלבן: פינות מעוגלות 85">
            <a:extLst>
              <a:ext uri="{FF2B5EF4-FFF2-40B4-BE49-F238E27FC236}">
                <a16:creationId xmlns:a16="http://schemas.microsoft.com/office/drawing/2014/main" id="{10045064-DAD1-3685-F772-41C751C8C741}"/>
              </a:ext>
            </a:extLst>
          </p:cNvPr>
          <p:cNvSpPr/>
          <p:nvPr/>
        </p:nvSpPr>
        <p:spPr>
          <a:xfrm>
            <a:off x="10969655" y="5470763"/>
            <a:ext cx="795099" cy="206137"/>
          </a:xfrm>
          <a:prstGeom prst="roundRect">
            <a:avLst/>
          </a:prstGeom>
          <a:solidFill>
            <a:srgbClr val="F4D70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1" anchor="ctr" anchorCtr="0">
            <a:noAutofit/>
          </a:bodyPr>
          <a:lstStyle/>
          <a:p>
            <a:pPr algn="ctr"/>
            <a:r>
              <a:rPr lang="he-IL" sz="900" b="1" dirty="0">
                <a:solidFill>
                  <a:srgbClr val="1A1A1A"/>
                </a:solidFill>
              </a:rPr>
              <a:t>שמור</a:t>
            </a:r>
          </a:p>
        </p:txBody>
      </p:sp>
      <p:sp>
        <p:nvSpPr>
          <p:cNvPr id="87" name="מלבן: פינות מעוגלות 86">
            <a:extLst>
              <a:ext uri="{FF2B5EF4-FFF2-40B4-BE49-F238E27FC236}">
                <a16:creationId xmlns:a16="http://schemas.microsoft.com/office/drawing/2014/main" id="{C89CD137-0B02-C377-CD70-2B0F52CAB5A3}"/>
              </a:ext>
            </a:extLst>
          </p:cNvPr>
          <p:cNvSpPr/>
          <p:nvPr/>
        </p:nvSpPr>
        <p:spPr>
          <a:xfrm>
            <a:off x="10064451" y="5463965"/>
            <a:ext cx="836225" cy="215900"/>
          </a:xfrm>
          <a:prstGeom prst="roundRect">
            <a:avLst/>
          </a:prstGeom>
          <a:solidFill>
            <a:srgbClr val="16111F"/>
          </a:solidFill>
          <a:ln w="12700" cap="flat" cmpd="sng" algn="ctr">
            <a:solidFill>
              <a:srgbClr val="3A33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1" anchor="ctr" anchorCtr="0">
            <a:noAutofit/>
          </a:bodyPr>
          <a:lstStyle/>
          <a:p>
            <a:pPr algn="ctr"/>
            <a:r>
              <a:rPr lang="he-IL" sz="900">
                <a:solidFill>
                  <a:srgbClr val="D6D0E2"/>
                </a:solidFill>
              </a:rPr>
              <a:t>נקה</a:t>
            </a:r>
          </a:p>
        </p:txBody>
      </p:sp>
      <p:sp>
        <p:nvSpPr>
          <p:cNvPr id="88" name="מלבן: פינות מעוגלות 87">
            <a:extLst>
              <a:ext uri="{FF2B5EF4-FFF2-40B4-BE49-F238E27FC236}">
                <a16:creationId xmlns:a16="http://schemas.microsoft.com/office/drawing/2014/main" id="{5BE2BA28-4549-D300-5BBC-D89C66B90407}"/>
              </a:ext>
            </a:extLst>
          </p:cNvPr>
          <p:cNvSpPr/>
          <p:nvPr/>
        </p:nvSpPr>
        <p:spPr>
          <a:xfrm>
            <a:off x="10050648" y="5806865"/>
            <a:ext cx="1727284" cy="241300"/>
          </a:xfrm>
          <a:prstGeom prst="roundRect">
            <a:avLst/>
          </a:prstGeom>
          <a:solidFill>
            <a:srgbClr val="16111F"/>
          </a:solidFill>
          <a:ln w="12700" cap="flat" cmpd="sng" algn="ctr">
            <a:solidFill>
              <a:srgbClr val="3A33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1" anchor="ctr" anchorCtr="0">
            <a:noAutofit/>
          </a:bodyPr>
          <a:lstStyle/>
          <a:p>
            <a:pPr algn="ctr"/>
            <a:r>
              <a:rPr lang="he-IL" sz="900" dirty="0">
                <a:solidFill>
                  <a:srgbClr val="D6D0E2"/>
                </a:solidFill>
              </a:rPr>
              <a:t>פתח תיקיית משחק</a:t>
            </a:r>
          </a:p>
        </p:txBody>
      </p:sp>
      <p:sp>
        <p:nvSpPr>
          <p:cNvPr id="89" name="תיבת טקסט 88">
            <a:extLst>
              <a:ext uri="{FF2B5EF4-FFF2-40B4-BE49-F238E27FC236}">
                <a16:creationId xmlns:a16="http://schemas.microsoft.com/office/drawing/2014/main" id="{91C4D66D-20FB-1B21-D05B-7A6B6F23DFF6}"/>
              </a:ext>
            </a:extLst>
          </p:cNvPr>
          <p:cNvSpPr txBox="1"/>
          <p:nvPr/>
        </p:nvSpPr>
        <p:spPr>
          <a:xfrm>
            <a:off x="8853212" y="5002062"/>
            <a:ext cx="1066800" cy="1270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800" dirty="0">
                <a:solidFill>
                  <a:srgbClr val="9A93AB"/>
                </a:solidFill>
              </a:rPr>
              <a:t>שפת המשחק</a:t>
            </a:r>
          </a:p>
        </p:txBody>
      </p:sp>
      <p:sp>
        <p:nvSpPr>
          <p:cNvPr id="90" name="מלבן: פינות מעוגלות 89">
            <a:extLst>
              <a:ext uri="{FF2B5EF4-FFF2-40B4-BE49-F238E27FC236}">
                <a16:creationId xmlns:a16="http://schemas.microsoft.com/office/drawing/2014/main" id="{DFB1C682-E364-D992-03F4-5CF1DC0B5FB7}"/>
              </a:ext>
            </a:extLst>
          </p:cNvPr>
          <p:cNvSpPr/>
          <p:nvPr/>
        </p:nvSpPr>
        <p:spPr>
          <a:xfrm>
            <a:off x="9368357" y="5198518"/>
            <a:ext cx="469900" cy="203200"/>
          </a:xfrm>
          <a:prstGeom prst="roundRect">
            <a:avLst/>
          </a:prstGeom>
          <a:solidFill>
            <a:srgbClr val="F4D70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1" anchor="ctr" anchorCtr="0">
            <a:noAutofit/>
          </a:bodyPr>
          <a:lstStyle/>
          <a:p>
            <a:pPr algn="ctr"/>
            <a:r>
              <a:rPr lang="he-IL" sz="800" b="1" dirty="0">
                <a:solidFill>
                  <a:srgbClr val="1A1A1A"/>
                </a:solidFill>
              </a:rPr>
              <a:t>אוטומטי</a:t>
            </a:r>
          </a:p>
        </p:txBody>
      </p:sp>
      <p:sp>
        <p:nvSpPr>
          <p:cNvPr id="91" name="תיבת טקסט 90">
            <a:extLst>
              <a:ext uri="{FF2B5EF4-FFF2-40B4-BE49-F238E27FC236}">
                <a16:creationId xmlns:a16="http://schemas.microsoft.com/office/drawing/2014/main" id="{79264A2E-5AA6-F9C0-F17E-8DFE20B5E66D}"/>
              </a:ext>
            </a:extLst>
          </p:cNvPr>
          <p:cNvSpPr txBox="1"/>
          <p:nvPr/>
        </p:nvSpPr>
        <p:spPr>
          <a:xfrm>
            <a:off x="8275362" y="5452912"/>
            <a:ext cx="1600200" cy="2540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650" dirty="0">
                <a:solidFill>
                  <a:srgbClr val="8A8398"/>
                </a:solidFill>
              </a:rPr>
              <a:t>☑ שמור לשפה שלפני (משוחזר) · התוכנית כעת: עברית (עברית)</a:t>
            </a:r>
          </a:p>
        </p:txBody>
      </p:sp>
      <p:sp>
        <p:nvSpPr>
          <p:cNvPr id="92" name="תיבת טקסט 91">
            <a:extLst>
              <a:ext uri="{FF2B5EF4-FFF2-40B4-BE49-F238E27FC236}">
                <a16:creationId xmlns:a16="http://schemas.microsoft.com/office/drawing/2014/main" id="{031B39D2-7499-4C8A-9F86-E046759A97C5}"/>
              </a:ext>
            </a:extLst>
          </p:cNvPr>
          <p:cNvSpPr txBox="1"/>
          <p:nvPr/>
        </p:nvSpPr>
        <p:spPr>
          <a:xfrm>
            <a:off x="8275362" y="5681512"/>
            <a:ext cx="1600200" cy="3937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650" dirty="0">
                <a:solidFill>
                  <a:srgbClr val="7E7690"/>
                </a:solidFill>
              </a:rPr>
              <a:t>החלפת השפה תיכנס לתוקף בהפעלה הבאה של המשחק. בחירת "עברית" משחזרת את העברית בכל המשחק (כיוון </a:t>
            </a:r>
            <a:r>
              <a:rPr lang="en-US" sz="650" dirty="0">
                <a:solidFill>
                  <a:srgbClr val="7E7690"/>
                </a:solidFill>
              </a:rPr>
              <a:t>RTL</a:t>
            </a:r>
            <a:r>
              <a:rPr lang="he-IL" sz="650" dirty="0">
                <a:solidFill>
                  <a:srgbClr val="7E7690"/>
                </a:solidFill>
              </a:rPr>
              <a:t> מובנה).</a:t>
            </a:r>
          </a:p>
        </p:txBody>
      </p:sp>
      <p:sp>
        <p:nvSpPr>
          <p:cNvPr id="93" name="מלבן: פינות מעוגלות 92">
            <a:extLst>
              <a:ext uri="{FF2B5EF4-FFF2-40B4-BE49-F238E27FC236}">
                <a16:creationId xmlns:a16="http://schemas.microsoft.com/office/drawing/2014/main" id="{C9C72AD1-8C3C-C57D-4CF9-370DEF5860D0}"/>
              </a:ext>
            </a:extLst>
          </p:cNvPr>
          <p:cNvSpPr/>
          <p:nvPr/>
        </p:nvSpPr>
        <p:spPr>
          <a:xfrm>
            <a:off x="8275362" y="6113312"/>
            <a:ext cx="1600200" cy="241300"/>
          </a:xfrm>
          <a:prstGeom prst="roundRect">
            <a:avLst/>
          </a:prstGeom>
          <a:solidFill>
            <a:srgbClr val="16111F"/>
          </a:solidFill>
          <a:ln w="15875" cap="flat" cmpd="sng" algn="ctr">
            <a:solidFill>
              <a:srgbClr val="7A22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1" anchor="ctr" anchorCtr="0">
            <a:noAutofit/>
          </a:bodyPr>
          <a:lstStyle/>
          <a:p>
            <a:pPr algn="ctr"/>
            <a:r>
              <a:rPr lang="he-IL" sz="900" dirty="0">
                <a:solidFill>
                  <a:srgbClr val="E0B0BA"/>
                </a:solidFill>
              </a:rPr>
              <a:t>ניקוי מטמון התרגום</a:t>
            </a:r>
          </a:p>
        </p:txBody>
      </p:sp>
      <p:grpSp>
        <p:nvGrpSpPr>
          <p:cNvPr id="94" name="קבוצה 93">
            <a:extLst>
              <a:ext uri="{FF2B5EF4-FFF2-40B4-BE49-F238E27FC236}">
                <a16:creationId xmlns:a16="http://schemas.microsoft.com/office/drawing/2014/main" id="{A2674D2C-783D-839C-F22A-A032813C44F4}"/>
              </a:ext>
            </a:extLst>
          </p:cNvPr>
          <p:cNvGrpSpPr/>
          <p:nvPr/>
        </p:nvGrpSpPr>
        <p:grpSpPr>
          <a:xfrm>
            <a:off x="1870620" y="5186482"/>
            <a:ext cx="977900" cy="749300"/>
            <a:chOff x="2603500" y="3987800"/>
            <a:chExt cx="977900" cy="749300"/>
          </a:xfrm>
        </p:grpSpPr>
        <p:sp>
          <p:nvSpPr>
            <p:cNvPr id="103" name="תיבת טקסט 102">
              <a:extLst>
                <a:ext uri="{FF2B5EF4-FFF2-40B4-BE49-F238E27FC236}">
                  <a16:creationId xmlns:a16="http://schemas.microsoft.com/office/drawing/2014/main" id="{7724D42F-97D8-2FC0-DE34-E8AA3B7562DE}"/>
                </a:ext>
              </a:extLst>
            </p:cNvPr>
            <p:cNvSpPr txBox="1"/>
            <p:nvPr/>
          </p:nvSpPr>
          <p:spPr>
            <a:xfrm>
              <a:off x="2603500" y="3987800"/>
              <a:ext cx="977900" cy="127000"/>
            </a:xfrm>
            <a:prstGeom prst="rect">
              <a:avLst/>
            </a:prstGeom>
            <a:noFill/>
          </p:spPr>
          <p:txBody>
            <a:bodyPr vertOverflow="overflow" vert="horz" wrap="square" rtlCol="1" anchor="ctr" anchorCtr="0">
              <a:noAutofit/>
            </a:bodyPr>
            <a:lstStyle/>
            <a:p>
              <a:pPr algn="l"/>
              <a:r>
                <a:rPr lang="he-IL" sz="800" dirty="0">
                  <a:solidFill>
                    <a:srgbClr val="9A93AB"/>
                  </a:solidFill>
                </a:rPr>
                <a:t>זמינות</a:t>
              </a:r>
            </a:p>
          </p:txBody>
        </p:sp>
        <p:sp>
          <p:nvSpPr>
            <p:cNvPr id="104" name="תיבת טקסט 103">
              <a:extLst>
                <a:ext uri="{FF2B5EF4-FFF2-40B4-BE49-F238E27FC236}">
                  <a16:creationId xmlns:a16="http://schemas.microsoft.com/office/drawing/2014/main" id="{40EA4256-1339-3345-B0DD-847ECE38FA5F}"/>
                </a:ext>
              </a:extLst>
            </p:cNvPr>
            <p:cNvSpPr txBox="1"/>
            <p:nvPr/>
          </p:nvSpPr>
          <p:spPr>
            <a:xfrm>
              <a:off x="2603500" y="4140200"/>
              <a:ext cx="977900" cy="127000"/>
            </a:xfrm>
            <a:prstGeom prst="rect">
              <a:avLst/>
            </a:prstGeom>
            <a:noFill/>
          </p:spPr>
          <p:txBody>
            <a:bodyPr vertOverflow="overflow" vert="horz" wrap="square" rtlCol="1" anchor="ctr" anchorCtr="0">
              <a:noAutofit/>
            </a:bodyPr>
            <a:lstStyle/>
            <a:p>
              <a:pPr algn="l"/>
              <a:r>
                <a:rPr lang="he-IL" sz="800" dirty="0">
                  <a:solidFill>
                    <a:srgbClr val="9A93AB"/>
                  </a:solidFill>
                </a:rPr>
                <a:t>גרסה</a:t>
              </a:r>
            </a:p>
          </p:txBody>
        </p:sp>
        <p:sp>
          <p:nvSpPr>
            <p:cNvPr id="105" name="תיבת טקסט 104">
              <a:extLst>
                <a:ext uri="{FF2B5EF4-FFF2-40B4-BE49-F238E27FC236}">
                  <a16:creationId xmlns:a16="http://schemas.microsoft.com/office/drawing/2014/main" id="{5D0C245E-9C4E-3373-E710-2D46C2439B9C}"/>
                </a:ext>
              </a:extLst>
            </p:cNvPr>
            <p:cNvSpPr txBox="1"/>
            <p:nvPr/>
          </p:nvSpPr>
          <p:spPr>
            <a:xfrm>
              <a:off x="2603500" y="4292600"/>
              <a:ext cx="977900" cy="127000"/>
            </a:xfrm>
            <a:prstGeom prst="rect">
              <a:avLst/>
            </a:prstGeom>
            <a:noFill/>
          </p:spPr>
          <p:txBody>
            <a:bodyPr vertOverflow="overflow" vert="horz" wrap="square" rtlCol="1" anchor="ctr" anchorCtr="0">
              <a:noAutofit/>
            </a:bodyPr>
            <a:lstStyle/>
            <a:p>
              <a:pPr algn="l"/>
              <a:r>
                <a:rPr lang="he-IL" sz="800" dirty="0">
                  <a:solidFill>
                    <a:srgbClr val="9A93AB"/>
                  </a:solidFill>
                </a:rPr>
                <a:t>התקנה</a:t>
              </a:r>
            </a:p>
          </p:txBody>
        </p:sp>
        <p:sp>
          <p:nvSpPr>
            <p:cNvPr id="106" name="תיבת טקסט 105">
              <a:extLst>
                <a:ext uri="{FF2B5EF4-FFF2-40B4-BE49-F238E27FC236}">
                  <a16:creationId xmlns:a16="http://schemas.microsoft.com/office/drawing/2014/main" id="{8A72C1DA-3451-8848-0CE3-32D7082B51C6}"/>
                </a:ext>
              </a:extLst>
            </p:cNvPr>
            <p:cNvSpPr txBox="1"/>
            <p:nvPr/>
          </p:nvSpPr>
          <p:spPr>
            <a:xfrm>
              <a:off x="2603500" y="4457700"/>
              <a:ext cx="977900" cy="127000"/>
            </a:xfrm>
            <a:prstGeom prst="rect">
              <a:avLst/>
            </a:prstGeom>
            <a:noFill/>
          </p:spPr>
          <p:txBody>
            <a:bodyPr vertOverflow="overflow" vert="horz" wrap="square" rtlCol="1" anchor="ctr" anchorCtr="0">
              <a:noAutofit/>
            </a:bodyPr>
            <a:lstStyle/>
            <a:p>
              <a:pPr algn="l"/>
              <a:r>
                <a:rPr lang="he-IL" sz="800" dirty="0">
                  <a:solidFill>
                    <a:srgbClr val="9A93AB"/>
                  </a:solidFill>
                </a:rPr>
                <a:t>תמיכת מוד</a:t>
              </a:r>
            </a:p>
          </p:txBody>
        </p:sp>
        <p:sp>
          <p:nvSpPr>
            <p:cNvPr id="107" name="תיבת טקסט 106">
              <a:extLst>
                <a:ext uri="{FF2B5EF4-FFF2-40B4-BE49-F238E27FC236}">
                  <a16:creationId xmlns:a16="http://schemas.microsoft.com/office/drawing/2014/main" id="{8480DE40-C5C4-4A15-DA9D-3C6CC4154429}"/>
                </a:ext>
              </a:extLst>
            </p:cNvPr>
            <p:cNvSpPr txBox="1"/>
            <p:nvPr/>
          </p:nvSpPr>
          <p:spPr>
            <a:xfrm>
              <a:off x="2603500" y="4610100"/>
              <a:ext cx="977900" cy="127000"/>
            </a:xfrm>
            <a:prstGeom prst="rect">
              <a:avLst/>
            </a:prstGeom>
            <a:noFill/>
          </p:spPr>
          <p:txBody>
            <a:bodyPr vertOverflow="overflow" vert="horz" wrap="square" rtlCol="1" anchor="ctr" anchorCtr="0">
              <a:noAutofit/>
            </a:bodyPr>
            <a:lstStyle/>
            <a:p>
              <a:pPr algn="l"/>
              <a:r>
                <a:rPr lang="he-IL" sz="800" dirty="0">
                  <a:solidFill>
                    <a:srgbClr val="9A93AB"/>
                  </a:solidFill>
                </a:rPr>
                <a:t>סטטוס מוד</a:t>
              </a:r>
            </a:p>
          </p:txBody>
        </p:sp>
      </p:grpSp>
      <p:grpSp>
        <p:nvGrpSpPr>
          <p:cNvPr id="95" name="קבוצה 94">
            <a:extLst>
              <a:ext uri="{FF2B5EF4-FFF2-40B4-BE49-F238E27FC236}">
                <a16:creationId xmlns:a16="http://schemas.microsoft.com/office/drawing/2014/main" id="{AB39ACFD-DFAE-EF0C-ECE5-532C2BC1A799}"/>
              </a:ext>
            </a:extLst>
          </p:cNvPr>
          <p:cNvGrpSpPr/>
          <p:nvPr/>
        </p:nvGrpSpPr>
        <p:grpSpPr>
          <a:xfrm>
            <a:off x="2546335" y="5186482"/>
            <a:ext cx="816514" cy="749300"/>
            <a:chOff x="2923112" y="3898900"/>
            <a:chExt cx="816514" cy="749300"/>
          </a:xfrm>
        </p:grpSpPr>
        <p:sp>
          <p:nvSpPr>
            <p:cNvPr id="98" name="תיבת טקסט 97">
              <a:extLst>
                <a:ext uri="{FF2B5EF4-FFF2-40B4-BE49-F238E27FC236}">
                  <a16:creationId xmlns:a16="http://schemas.microsoft.com/office/drawing/2014/main" id="{90A27577-133D-5E97-F371-CAA95497CA7F}"/>
                </a:ext>
              </a:extLst>
            </p:cNvPr>
            <p:cNvSpPr txBox="1"/>
            <p:nvPr/>
          </p:nvSpPr>
          <p:spPr>
            <a:xfrm>
              <a:off x="3065987" y="3898900"/>
              <a:ext cx="669131" cy="127000"/>
            </a:xfrm>
            <a:prstGeom prst="rect">
              <a:avLst/>
            </a:prstGeom>
            <a:noFill/>
          </p:spPr>
          <p:txBody>
            <a:bodyPr vertOverflow="overflow" vert="horz" wrap="square" rtlCol="1" anchor="ctr" anchorCtr="0">
              <a:noAutofit/>
            </a:bodyPr>
            <a:lstStyle/>
            <a:p>
              <a:r>
                <a:rPr lang="he-IL" sz="800" dirty="0">
                  <a:solidFill>
                    <a:srgbClr val="E6E1F0"/>
                  </a:solidFill>
                </a:rPr>
                <a:t>זמין</a:t>
              </a:r>
            </a:p>
          </p:txBody>
        </p:sp>
        <p:sp>
          <p:nvSpPr>
            <p:cNvPr id="99" name="תיבת טקסט 98">
              <a:extLst>
                <a:ext uri="{FF2B5EF4-FFF2-40B4-BE49-F238E27FC236}">
                  <a16:creationId xmlns:a16="http://schemas.microsoft.com/office/drawing/2014/main" id="{E1209B63-9998-BF20-3045-9D7FA677C105}"/>
                </a:ext>
              </a:extLst>
            </p:cNvPr>
            <p:cNvSpPr txBox="1"/>
            <p:nvPr/>
          </p:nvSpPr>
          <p:spPr>
            <a:xfrm>
              <a:off x="2923112" y="4054475"/>
              <a:ext cx="812006" cy="127000"/>
            </a:xfrm>
            <a:prstGeom prst="rect">
              <a:avLst/>
            </a:prstGeom>
            <a:noFill/>
          </p:spPr>
          <p:txBody>
            <a:bodyPr vertOverflow="overflow" vert="horz" wrap="square" rtlCol="1" anchor="ctr" anchorCtr="0">
              <a:noAutofit/>
            </a:bodyPr>
            <a:lstStyle/>
            <a:p>
              <a:r>
                <a:rPr lang="en-US" sz="800" dirty="0">
                  <a:solidFill>
                    <a:srgbClr val="E6E1F0"/>
                  </a:solidFill>
                </a:rPr>
                <a:t>v1.0.0-beta.3</a:t>
              </a:r>
              <a:endParaRPr lang="he-IL" sz="800" dirty="0">
                <a:solidFill>
                  <a:srgbClr val="E6E1F0"/>
                </a:solidFill>
              </a:endParaRPr>
            </a:p>
          </p:txBody>
        </p:sp>
        <p:sp>
          <p:nvSpPr>
            <p:cNvPr id="100" name="תיבת טקסט 99">
              <a:extLst>
                <a:ext uri="{FF2B5EF4-FFF2-40B4-BE49-F238E27FC236}">
                  <a16:creationId xmlns:a16="http://schemas.microsoft.com/office/drawing/2014/main" id="{DB4118DC-7ADC-4F60-809C-242FCF211414}"/>
                </a:ext>
              </a:extLst>
            </p:cNvPr>
            <p:cNvSpPr txBox="1"/>
            <p:nvPr/>
          </p:nvSpPr>
          <p:spPr>
            <a:xfrm>
              <a:off x="3115199" y="4210050"/>
              <a:ext cx="622300" cy="127000"/>
            </a:xfrm>
            <a:prstGeom prst="rect">
              <a:avLst/>
            </a:prstGeom>
            <a:noFill/>
          </p:spPr>
          <p:txBody>
            <a:bodyPr vertOverflow="overflow" vert="horz" wrap="square" rtlCol="1" anchor="ctr" anchorCtr="0">
              <a:noAutofit/>
            </a:bodyPr>
            <a:lstStyle/>
            <a:p>
              <a:r>
                <a:rPr lang="he-IL" sz="800" dirty="0">
                  <a:solidFill>
                    <a:srgbClr val="E6E1F0"/>
                  </a:solidFill>
                </a:rPr>
                <a:t>מותקן</a:t>
              </a:r>
            </a:p>
          </p:txBody>
        </p:sp>
        <p:sp>
          <p:nvSpPr>
            <p:cNvPr id="101" name="תיבת טקסט 100">
              <a:extLst>
                <a:ext uri="{FF2B5EF4-FFF2-40B4-BE49-F238E27FC236}">
                  <a16:creationId xmlns:a16="http://schemas.microsoft.com/office/drawing/2014/main" id="{13D1BAC3-FDA9-F7F5-B613-560F7C1D05CD}"/>
                </a:ext>
              </a:extLst>
            </p:cNvPr>
            <p:cNvSpPr txBox="1"/>
            <p:nvPr/>
          </p:nvSpPr>
          <p:spPr>
            <a:xfrm>
              <a:off x="3141932" y="4365625"/>
              <a:ext cx="597694" cy="127000"/>
            </a:xfrm>
            <a:prstGeom prst="rect">
              <a:avLst/>
            </a:prstGeom>
            <a:noFill/>
          </p:spPr>
          <p:txBody>
            <a:bodyPr vertOverflow="overflow" vert="horz" wrap="square" rtlCol="1" anchor="ctr" anchorCtr="0">
              <a:noAutofit/>
            </a:bodyPr>
            <a:lstStyle/>
            <a:p>
              <a:r>
                <a:rPr lang="he-IL" sz="800" dirty="0">
                  <a:solidFill>
                    <a:srgbClr val="E6E1F0"/>
                  </a:solidFill>
                </a:rPr>
                <a:t>כן</a:t>
              </a:r>
            </a:p>
          </p:txBody>
        </p:sp>
        <p:sp>
          <p:nvSpPr>
            <p:cNvPr id="102" name="תיבת טקסט 101">
              <a:extLst>
                <a:ext uri="{FF2B5EF4-FFF2-40B4-BE49-F238E27FC236}">
                  <a16:creationId xmlns:a16="http://schemas.microsoft.com/office/drawing/2014/main" id="{67BD7B91-77BC-ACC1-AC7A-3E3D52205CDE}"/>
                </a:ext>
              </a:extLst>
            </p:cNvPr>
            <p:cNvSpPr txBox="1"/>
            <p:nvPr/>
          </p:nvSpPr>
          <p:spPr>
            <a:xfrm>
              <a:off x="3092180" y="4521200"/>
              <a:ext cx="642938" cy="127000"/>
            </a:xfrm>
            <a:prstGeom prst="rect">
              <a:avLst/>
            </a:prstGeom>
            <a:noFill/>
          </p:spPr>
          <p:txBody>
            <a:bodyPr vertOverflow="overflow" vert="horz" wrap="square" rtlCol="1" anchor="ctr" anchorCtr="0">
              <a:noAutofit/>
            </a:bodyPr>
            <a:lstStyle/>
            <a:p>
              <a:r>
                <a:rPr lang="he-IL" sz="800" dirty="0">
                  <a:solidFill>
                    <a:srgbClr val="E6E1F0"/>
                  </a:solidFill>
                </a:rPr>
                <a:t>תרגום פעיל</a:t>
              </a:r>
            </a:p>
          </p:txBody>
        </p:sp>
      </p:grpSp>
      <p:sp>
        <p:nvSpPr>
          <p:cNvPr id="96" name="מלבן: פינות מעוגלות 95">
            <a:extLst>
              <a:ext uri="{FF2B5EF4-FFF2-40B4-BE49-F238E27FC236}">
                <a16:creationId xmlns:a16="http://schemas.microsoft.com/office/drawing/2014/main" id="{2AC48DA7-F433-DDCC-9AA7-845912F59FC8}"/>
              </a:ext>
            </a:extLst>
          </p:cNvPr>
          <p:cNvSpPr/>
          <p:nvPr/>
        </p:nvSpPr>
        <p:spPr>
          <a:xfrm>
            <a:off x="8825432" y="5198518"/>
            <a:ext cx="469900" cy="203200"/>
          </a:xfrm>
          <a:prstGeom prst="roundRect">
            <a:avLst/>
          </a:prstGeom>
          <a:solidFill>
            <a:srgbClr val="150F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1" anchor="ctr" anchorCtr="0">
            <a:noAutofit/>
          </a:bodyPr>
          <a:lstStyle/>
          <a:p>
            <a:pPr algn="ctr"/>
            <a:r>
              <a:rPr lang="he-IL" sz="800" b="1" dirty="0">
                <a:solidFill>
                  <a:schemeClr val="bg1"/>
                </a:solidFill>
              </a:rPr>
              <a:t>עברית</a:t>
            </a:r>
          </a:p>
        </p:txBody>
      </p:sp>
      <p:sp>
        <p:nvSpPr>
          <p:cNvPr id="97" name="מלבן: פינות מעוגלות 96">
            <a:extLst>
              <a:ext uri="{FF2B5EF4-FFF2-40B4-BE49-F238E27FC236}">
                <a16:creationId xmlns:a16="http://schemas.microsoft.com/office/drawing/2014/main" id="{80AA6C6D-E4FD-A249-8189-DB1CD92889DC}"/>
              </a:ext>
            </a:extLst>
          </p:cNvPr>
          <p:cNvSpPr/>
          <p:nvPr/>
        </p:nvSpPr>
        <p:spPr>
          <a:xfrm>
            <a:off x="8282507" y="5198518"/>
            <a:ext cx="469900" cy="203200"/>
          </a:xfrm>
          <a:prstGeom prst="roundRect">
            <a:avLst/>
          </a:prstGeom>
          <a:solidFill>
            <a:srgbClr val="150F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1" anchor="ctr" anchorCtr="0">
            <a:noAutofit/>
          </a:bodyPr>
          <a:lstStyle/>
          <a:p>
            <a:pPr algn="ctr"/>
            <a:r>
              <a:rPr lang="he-IL" sz="800" b="1" dirty="0">
                <a:solidFill>
                  <a:schemeClr val="bg1"/>
                </a:solidFill>
              </a:rPr>
              <a:t>אנגלית</a:t>
            </a:r>
          </a:p>
        </p:txBody>
      </p:sp>
      <p:grpSp>
        <p:nvGrpSpPr>
          <p:cNvPr id="112" name="קבוצה 111">
            <a:extLst>
              <a:ext uri="{FF2B5EF4-FFF2-40B4-BE49-F238E27FC236}">
                <a16:creationId xmlns:a16="http://schemas.microsoft.com/office/drawing/2014/main" id="{AE2E7CA3-88DD-3271-8BB1-B297C601F68A}"/>
              </a:ext>
            </a:extLst>
          </p:cNvPr>
          <p:cNvGrpSpPr/>
          <p:nvPr/>
        </p:nvGrpSpPr>
        <p:grpSpPr>
          <a:xfrm>
            <a:off x="5102416" y="5244560"/>
            <a:ext cx="342900" cy="165100"/>
            <a:chOff x="3395803" y="5357856"/>
            <a:chExt cx="342900" cy="165100"/>
          </a:xfrm>
        </p:grpSpPr>
        <p:sp>
          <p:nvSpPr>
            <p:cNvPr id="108" name="מלבן: פינות מעוגלות 107">
              <a:extLst>
                <a:ext uri="{FF2B5EF4-FFF2-40B4-BE49-F238E27FC236}">
                  <a16:creationId xmlns:a16="http://schemas.microsoft.com/office/drawing/2014/main" id="{53D1B866-2DE2-6784-4AE3-FD0BC463C8AB}"/>
                </a:ext>
              </a:extLst>
            </p:cNvPr>
            <p:cNvSpPr/>
            <p:nvPr/>
          </p:nvSpPr>
          <p:spPr>
            <a:xfrm>
              <a:off x="3395803" y="5357856"/>
              <a:ext cx="342900" cy="165100"/>
            </a:xfrm>
            <a:prstGeom prst="roundRect">
              <a:avLst>
                <a:gd name="adj" fmla="val 50000"/>
              </a:avLst>
            </a:prstGeom>
            <a:solidFill>
              <a:srgbClr val="F4D70A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1" anchor="t"/>
            <a:lstStyle/>
            <a:p>
              <a:pPr algn="l"/>
              <a:endParaRPr lang="he-IL"/>
            </a:p>
          </p:txBody>
        </p:sp>
        <p:sp>
          <p:nvSpPr>
            <p:cNvPr id="109" name="אליפסה 108">
              <a:extLst>
                <a:ext uri="{FF2B5EF4-FFF2-40B4-BE49-F238E27FC236}">
                  <a16:creationId xmlns:a16="http://schemas.microsoft.com/office/drawing/2014/main" id="{32F40F17-AFBC-443E-CDE5-D1075D95AF3F}"/>
                </a:ext>
              </a:extLst>
            </p:cNvPr>
            <p:cNvSpPr/>
            <p:nvPr/>
          </p:nvSpPr>
          <p:spPr>
            <a:xfrm>
              <a:off x="3428346" y="5376113"/>
              <a:ext cx="127000" cy="127000"/>
            </a:xfrm>
            <a:prstGeom prst="ellipse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1" anchor="t"/>
            <a:lstStyle/>
            <a:p>
              <a:pPr algn="l"/>
              <a:endParaRPr lang="he-IL"/>
            </a:p>
          </p:txBody>
        </p:sp>
      </p:grpSp>
      <p:sp>
        <p:nvSpPr>
          <p:cNvPr id="110" name="תיבת טקסט 109">
            <a:extLst>
              <a:ext uri="{FF2B5EF4-FFF2-40B4-BE49-F238E27FC236}">
                <a16:creationId xmlns:a16="http://schemas.microsoft.com/office/drawing/2014/main" id="{8B18FB2C-6A0B-95D8-177D-DA04F15EB388}"/>
              </a:ext>
            </a:extLst>
          </p:cNvPr>
          <p:cNvSpPr txBox="1"/>
          <p:nvPr/>
        </p:nvSpPr>
        <p:spPr>
          <a:xfrm>
            <a:off x="5371080" y="5181944"/>
            <a:ext cx="1802376" cy="2540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1000" b="1" dirty="0">
                <a:solidFill>
                  <a:srgbClr val="FFFFFF"/>
                </a:solidFill>
              </a:rPr>
              <a:t>קבל גרסאות בטא למשחק זה:</a:t>
            </a:r>
          </a:p>
        </p:txBody>
      </p:sp>
      <p:sp>
        <p:nvSpPr>
          <p:cNvPr id="111" name="תיבת טקסט 110">
            <a:extLst>
              <a:ext uri="{FF2B5EF4-FFF2-40B4-BE49-F238E27FC236}">
                <a16:creationId xmlns:a16="http://schemas.microsoft.com/office/drawing/2014/main" id="{4FF907D2-868E-AE69-768C-DF29DDAA1EF6}"/>
              </a:ext>
            </a:extLst>
          </p:cNvPr>
          <p:cNvSpPr txBox="1"/>
          <p:nvPr/>
        </p:nvSpPr>
        <p:spPr>
          <a:xfrm>
            <a:off x="5183238" y="5410529"/>
            <a:ext cx="1988207" cy="3937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700" dirty="0">
                <a:solidFill>
                  <a:srgbClr val="9A93AB"/>
                </a:solidFill>
              </a:rPr>
              <a:t>גרסאות מוקדמות — חדשות יותר אך עשויות להיות פחות יציבות. ברירת המחדל (מהגדרות): מופעל!</a:t>
            </a:r>
          </a:p>
        </p:txBody>
      </p:sp>
      <p:sp>
        <p:nvSpPr>
          <p:cNvPr id="113" name="מלבן: פינות מעוגלות 112">
            <a:extLst>
              <a:ext uri="{FF2B5EF4-FFF2-40B4-BE49-F238E27FC236}">
                <a16:creationId xmlns:a16="http://schemas.microsoft.com/office/drawing/2014/main" id="{009F80D8-9F4D-2DE1-231B-1607679746B8}"/>
              </a:ext>
            </a:extLst>
          </p:cNvPr>
          <p:cNvSpPr/>
          <p:nvPr/>
        </p:nvSpPr>
        <p:spPr>
          <a:xfrm>
            <a:off x="1906077" y="4703883"/>
            <a:ext cx="310912" cy="247171"/>
          </a:xfrm>
          <a:prstGeom prst="roundRect">
            <a:avLst>
              <a:gd name="adj" fmla="val 50000"/>
            </a:avLst>
          </a:prstGeom>
          <a:solidFill>
            <a:srgbClr val="16111F"/>
          </a:solidFill>
          <a:ln w="12700" cap="flat" cmpd="sng" algn="ctr">
            <a:solidFill>
              <a:srgbClr val="3A33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1" anchor="ctr" anchorCtr="0">
            <a:noAutofit/>
          </a:bodyPr>
          <a:lstStyle/>
          <a:p>
            <a:pPr algn="ctr"/>
            <a:r>
              <a:rPr lang="he-IL" sz="900" dirty="0">
                <a:solidFill>
                  <a:srgbClr val="D6D0E2"/>
                </a:solidFill>
              </a:rPr>
              <a:t>▲</a:t>
            </a:r>
          </a:p>
        </p:txBody>
      </p:sp>
      <p:sp>
        <p:nvSpPr>
          <p:cNvPr id="114" name="מלבן: פינות מעוגלות 113">
            <a:extLst>
              <a:ext uri="{FF2B5EF4-FFF2-40B4-BE49-F238E27FC236}">
                <a16:creationId xmlns:a16="http://schemas.microsoft.com/office/drawing/2014/main" id="{98F80742-93F7-46E4-E873-5DD3055A82CD}"/>
              </a:ext>
            </a:extLst>
          </p:cNvPr>
          <p:cNvSpPr/>
          <p:nvPr/>
        </p:nvSpPr>
        <p:spPr>
          <a:xfrm>
            <a:off x="11467378" y="5159165"/>
            <a:ext cx="297376" cy="215900"/>
          </a:xfrm>
          <a:prstGeom prst="roundRect">
            <a:avLst/>
          </a:prstGeom>
          <a:solidFill>
            <a:srgbClr val="16111F"/>
          </a:solidFill>
          <a:ln w="12700" cap="flat" cmpd="sng" algn="ctr">
            <a:solidFill>
              <a:srgbClr val="3A33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1" anchor="ctr" anchorCtr="0">
            <a:noAutofit/>
          </a:bodyPr>
          <a:lstStyle/>
          <a:p>
            <a:pPr algn="ctr"/>
            <a:r>
              <a:rPr lang="he-IL" sz="900" dirty="0">
                <a:solidFill>
                  <a:srgbClr val="D6D0E2"/>
                </a:solidFill>
              </a:rPr>
              <a:t>עיין</a:t>
            </a:r>
          </a:p>
        </p:txBody>
      </p:sp>
      <p:sp>
        <p:nvSpPr>
          <p:cNvPr id="18" name="מלבן: פינות מעוגלות 17">
            <a:extLst>
              <a:ext uri="{FF2B5EF4-FFF2-40B4-BE49-F238E27FC236}">
                <a16:creationId xmlns:a16="http://schemas.microsoft.com/office/drawing/2014/main" id="{ADDED14A-8750-CB13-AD5E-754CDC36D640}"/>
              </a:ext>
            </a:extLst>
          </p:cNvPr>
          <p:cNvSpPr/>
          <p:nvPr/>
        </p:nvSpPr>
        <p:spPr>
          <a:xfrm>
            <a:off x="520700" y="6024271"/>
            <a:ext cx="990600" cy="412750"/>
          </a:xfrm>
          <a:prstGeom prst="roundRect">
            <a:avLst>
              <a:gd name="adj" fmla="val 26712"/>
            </a:avLst>
          </a:prstGeom>
          <a:solidFill>
            <a:srgbClr val="1C1530"/>
          </a:solidFill>
          <a:ln w="12700" cap="flat" cmpd="sng" algn="ctr">
            <a:solidFill>
              <a:srgbClr val="2C24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5" name="מלבן: פינות מעוגלות 24">
            <a:extLst>
              <a:ext uri="{FF2B5EF4-FFF2-40B4-BE49-F238E27FC236}">
                <a16:creationId xmlns:a16="http://schemas.microsoft.com/office/drawing/2014/main" id="{16A5B63A-E68A-CE14-08C0-681E79F70AC9}"/>
              </a:ext>
            </a:extLst>
          </p:cNvPr>
          <p:cNvSpPr/>
          <p:nvPr/>
        </p:nvSpPr>
        <p:spPr>
          <a:xfrm>
            <a:off x="573087" y="6070600"/>
            <a:ext cx="317500" cy="266700"/>
          </a:xfrm>
          <a:prstGeom prst="roundRect">
            <a:avLst>
              <a:gd name="adj" fmla="val 27554"/>
            </a:avLst>
          </a:prstGeom>
          <a:solidFill>
            <a:srgbClr val="13B5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 dirty="0"/>
          </a:p>
        </p:txBody>
      </p:sp>
      <p:sp>
        <p:nvSpPr>
          <p:cNvPr id="26" name="תיבת טקסט 25">
            <a:extLst>
              <a:ext uri="{FF2B5EF4-FFF2-40B4-BE49-F238E27FC236}">
                <a16:creationId xmlns:a16="http://schemas.microsoft.com/office/drawing/2014/main" id="{233DB7CD-2C78-9230-969E-E65614FD7A83}"/>
              </a:ext>
            </a:extLst>
          </p:cNvPr>
          <p:cNvSpPr txBox="1"/>
          <p:nvPr/>
        </p:nvSpPr>
        <p:spPr>
          <a:xfrm>
            <a:off x="883126" y="6113312"/>
            <a:ext cx="591301" cy="16504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1000" b="1" dirty="0">
                <a:solidFill>
                  <a:srgbClr val="FFFFFF"/>
                </a:solidFill>
              </a:rPr>
              <a:t>הגדרות</a:t>
            </a:r>
          </a:p>
        </p:txBody>
      </p:sp>
      <p:pic>
        <p:nvPicPr>
          <p:cNvPr id="27" name="Graphic 74" descr="settings gear">
            <a:extLst>
              <a:ext uri="{FF2B5EF4-FFF2-40B4-BE49-F238E27FC236}">
                <a16:creationId xmlns:a16="http://schemas.microsoft.com/office/drawing/2014/main" id="{CACCC575-77DB-C9A0-D5FC-8B215EE9963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3571" y="6108939"/>
            <a:ext cx="177800" cy="177800"/>
          </a:xfrm>
          <a:prstGeom prst="rect">
            <a:avLst/>
          </a:prstGeom>
        </p:spPr>
      </p:pic>
      <p:sp>
        <p:nvSpPr>
          <p:cNvPr id="28" name="מלבן: פינות מעוגלות 27">
            <a:extLst>
              <a:ext uri="{FF2B5EF4-FFF2-40B4-BE49-F238E27FC236}">
                <a16:creationId xmlns:a16="http://schemas.microsoft.com/office/drawing/2014/main" id="{D631DE6E-BF43-3D3F-3FAA-B1A0B7022AF0}"/>
              </a:ext>
            </a:extLst>
          </p:cNvPr>
          <p:cNvSpPr/>
          <p:nvPr/>
        </p:nvSpPr>
        <p:spPr>
          <a:xfrm>
            <a:off x="190499" y="6028906"/>
            <a:ext cx="297971" cy="412750"/>
          </a:xfrm>
          <a:prstGeom prst="roundRect">
            <a:avLst>
              <a:gd name="adj" fmla="val 26712"/>
            </a:avLst>
          </a:prstGeom>
          <a:solidFill>
            <a:srgbClr val="1C1530"/>
          </a:solidFill>
          <a:ln w="12700" cap="flat" cmpd="sng" algn="ctr">
            <a:solidFill>
              <a:srgbClr val="2C24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25261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25E5C464-2B76-4DBA-863A-816DE523AA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79300" cy="6845300"/>
          </a:xfrm>
          <a:prstGeom prst="rect">
            <a:avLst/>
          </a:prstGeom>
          <a:solidFill>
            <a:srgbClr val="0D0A1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76" name="מלבן: פינות מעוגלות 75">
            <a:extLst>
              <a:ext uri="{FF2B5EF4-FFF2-40B4-BE49-F238E27FC236}">
                <a16:creationId xmlns:a16="http://schemas.microsoft.com/office/drawing/2014/main" id="{D3FAF2F3-A1CD-CFD3-75E8-AD9E6338EF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51000" y="298450"/>
            <a:ext cx="10414000" cy="6438900"/>
          </a:xfrm>
          <a:prstGeom prst="roundRect">
            <a:avLst>
              <a:gd name="adj" fmla="val 5414"/>
            </a:avLst>
          </a:prstGeom>
          <a:solidFill>
            <a:srgbClr val="150F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74560704-8EB1-4C54-87DA-25C4F2857606}"/>
              </a:ext>
            </a:extLst>
          </p:cNvPr>
          <p:cNvSpPr/>
          <p:nvPr/>
        </p:nvSpPr>
        <p:spPr>
          <a:xfrm>
            <a:off x="0" y="0"/>
            <a:ext cx="12179300" cy="190500"/>
          </a:xfrm>
          <a:prstGeom prst="rect">
            <a:avLst/>
          </a:prstGeom>
          <a:solidFill>
            <a:srgbClr val="08051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FC332BF8-7C47-486A-81EC-90664846F583}"/>
              </a:ext>
            </a:extLst>
          </p:cNvPr>
          <p:cNvSpPr txBox="1"/>
          <p:nvPr/>
        </p:nvSpPr>
        <p:spPr>
          <a:xfrm>
            <a:off x="0" y="-794"/>
            <a:ext cx="1202531" cy="1651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he-IL" sz="800" dirty="0">
                <a:solidFill>
                  <a:srgbClr val="C9C2D6"/>
                </a:solidFill>
              </a:rPr>
              <a:t>מנהל התרגומים הרשמי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A375D107-9AEF-4B17-89BE-D36272EE6958}"/>
              </a:ext>
            </a:extLst>
          </p:cNvPr>
          <p:cNvSpPr txBox="1"/>
          <p:nvPr/>
        </p:nvSpPr>
        <p:spPr>
          <a:xfrm>
            <a:off x="11416506" y="0"/>
            <a:ext cx="788987" cy="1651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800" dirty="0">
                <a:solidFill>
                  <a:srgbClr val="9A93AB"/>
                </a:solidFill>
              </a:rPr>
              <a:t>✕   ☐   ─</a:t>
            </a:r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7EC29D92-B921-4A27-8983-10BB222A1E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000" y="284956"/>
            <a:ext cx="1422400" cy="6438900"/>
          </a:xfrm>
          <a:prstGeom prst="roundRect">
            <a:avLst>
              <a:gd name="adj" fmla="val 20306"/>
            </a:avLst>
          </a:prstGeom>
          <a:solidFill>
            <a:srgbClr val="150F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r" rtl="0"/>
            <a:endParaRPr lang="he-IL" dirty="0"/>
          </a:p>
        </p:txBody>
      </p:sp>
      <p:sp>
        <p:nvSpPr>
          <p:cNvPr id="7" name="אליפסה 6">
            <a:extLst>
              <a:ext uri="{FF2B5EF4-FFF2-40B4-BE49-F238E27FC236}">
                <a16:creationId xmlns:a16="http://schemas.microsoft.com/office/drawing/2014/main" id="{7ACF2BB7-5667-40A2-99D2-5FEB80870319}"/>
              </a:ext>
            </a:extLst>
          </p:cNvPr>
          <p:cNvSpPr/>
          <p:nvPr/>
        </p:nvSpPr>
        <p:spPr>
          <a:xfrm>
            <a:off x="393700" y="406400"/>
            <a:ext cx="393700" cy="393700"/>
          </a:xfrm>
          <a:prstGeom prst="ellipse">
            <a:avLst/>
          </a:prstGeom>
          <a:solidFill>
            <a:srgbClr val="1E1838"/>
          </a:solidFill>
          <a:ln w="19050" cap="flat" cmpd="sng" algn="ctr">
            <a:solidFill>
              <a:srgbClr val="13B5A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2B92F8D4-7196-4ED7-880E-58AB9F32D8D0}"/>
              </a:ext>
            </a:extLst>
          </p:cNvPr>
          <p:cNvSpPr txBox="1"/>
          <p:nvPr/>
        </p:nvSpPr>
        <p:spPr>
          <a:xfrm>
            <a:off x="825500" y="431800"/>
            <a:ext cx="660400" cy="1524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he-IL" sz="800" b="1">
                <a:solidFill>
                  <a:srgbClr val="FFFFFF"/>
                </a:solidFill>
              </a:rPr>
              <a:t>פרויקט התרגום</a:t>
            </a: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B68EAA7F-89C2-4083-85E1-3542A7FBAE57}"/>
              </a:ext>
            </a:extLst>
          </p:cNvPr>
          <p:cNvSpPr txBox="1"/>
          <p:nvPr/>
        </p:nvSpPr>
        <p:spPr>
          <a:xfrm>
            <a:off x="825500" y="584200"/>
            <a:ext cx="660400" cy="1143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600" b="1">
                <a:solidFill>
                  <a:srgbClr val="13B5A6"/>
                </a:solidFill>
              </a:rPr>
              <a:t>HEBREW AI</a:t>
            </a:r>
            <a:endParaRPr lang="he-IL" sz="600" b="1">
              <a:solidFill>
                <a:srgbClr val="13B5A6"/>
              </a:solidFill>
            </a:endParaRP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93E411EF-F862-4E81-8F33-81AF5CBB358F}"/>
              </a:ext>
            </a:extLst>
          </p:cNvPr>
          <p:cNvSpPr/>
          <p:nvPr/>
        </p:nvSpPr>
        <p:spPr>
          <a:xfrm>
            <a:off x="203200" y="1193800"/>
            <a:ext cx="1295400" cy="254000"/>
          </a:xfrm>
          <a:prstGeom prst="roundRect">
            <a:avLst/>
          </a:prstGeom>
          <a:solidFill>
            <a:srgbClr val="261C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 dirty="0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13A215F6-C941-4BBA-9CAD-E135D0860571}"/>
              </a:ext>
            </a:extLst>
          </p:cNvPr>
          <p:cNvSpPr/>
          <p:nvPr/>
        </p:nvSpPr>
        <p:spPr>
          <a:xfrm>
            <a:off x="1473995" y="1206500"/>
            <a:ext cx="25400" cy="215900"/>
          </a:xfrm>
          <a:prstGeom prst="rect">
            <a:avLst/>
          </a:prstGeom>
          <a:solidFill>
            <a:srgbClr val="F4D70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DC5EBE6B-687E-46A7-A7C6-54871A2C7D75}"/>
              </a:ext>
            </a:extLst>
          </p:cNvPr>
          <p:cNvSpPr txBox="1"/>
          <p:nvPr/>
        </p:nvSpPr>
        <p:spPr>
          <a:xfrm>
            <a:off x="520700" y="889000"/>
            <a:ext cx="901700" cy="1905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900" dirty="0">
                <a:solidFill>
                  <a:srgbClr val="C2BBD2"/>
                </a:solidFill>
              </a:rPr>
              <a:t>דף הבית</a:t>
            </a: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35751BBB-BF27-414E-83FC-E23731965DD3}"/>
              </a:ext>
            </a:extLst>
          </p:cNvPr>
          <p:cNvSpPr txBox="1"/>
          <p:nvPr/>
        </p:nvSpPr>
        <p:spPr>
          <a:xfrm>
            <a:off x="520700" y="1210733"/>
            <a:ext cx="901700" cy="1905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900" b="1">
                <a:solidFill>
                  <a:srgbClr val="FFFFFF"/>
                </a:solidFill>
              </a:rPr>
              <a:t>ספרייה</a:t>
            </a: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CE253286-92D3-44A9-B7BA-F201275C32D0}"/>
              </a:ext>
            </a:extLst>
          </p:cNvPr>
          <p:cNvSpPr txBox="1"/>
          <p:nvPr/>
        </p:nvSpPr>
        <p:spPr>
          <a:xfrm>
            <a:off x="304800" y="1532466"/>
            <a:ext cx="1104900" cy="1905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900" dirty="0">
                <a:solidFill>
                  <a:srgbClr val="C2BBD2"/>
                </a:solidFill>
              </a:rPr>
              <a:t>הורדות ועדכונים</a:t>
            </a: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20770CBE-8154-4B1E-A761-2354E1EA65AB}"/>
              </a:ext>
            </a:extLst>
          </p:cNvPr>
          <p:cNvSpPr txBox="1"/>
          <p:nvPr/>
        </p:nvSpPr>
        <p:spPr>
          <a:xfrm>
            <a:off x="520700" y="1854200"/>
            <a:ext cx="901700" cy="1905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900">
                <a:solidFill>
                  <a:srgbClr val="C2BBD2"/>
                </a:solidFill>
              </a:rPr>
              <a:t>אזור אישי</a:t>
            </a:r>
          </a:p>
        </p:txBody>
      </p:sp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70905588-EDC1-44EA-BF86-8B6894DF3879}"/>
              </a:ext>
            </a:extLst>
          </p:cNvPr>
          <p:cNvSpPr/>
          <p:nvPr/>
        </p:nvSpPr>
        <p:spPr>
          <a:xfrm>
            <a:off x="190500" y="5562600"/>
            <a:ext cx="1333500" cy="355600"/>
          </a:xfrm>
          <a:prstGeom prst="roundRect">
            <a:avLst>
              <a:gd name="adj" fmla="val 26712"/>
            </a:avLst>
          </a:prstGeom>
          <a:solidFill>
            <a:srgbClr val="1C1530"/>
          </a:solidFill>
          <a:ln w="12700" cap="flat" cmpd="sng" algn="ctr">
            <a:solidFill>
              <a:srgbClr val="2C24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7" name="אליפסה 16">
            <a:extLst>
              <a:ext uri="{FF2B5EF4-FFF2-40B4-BE49-F238E27FC236}">
                <a16:creationId xmlns:a16="http://schemas.microsoft.com/office/drawing/2014/main" id="{E105417C-FA1B-4EE4-8883-4779ECBFB46A}"/>
              </a:ext>
            </a:extLst>
          </p:cNvPr>
          <p:cNvSpPr/>
          <p:nvPr/>
        </p:nvSpPr>
        <p:spPr>
          <a:xfrm>
            <a:off x="1270000" y="5613400"/>
            <a:ext cx="241300" cy="241300"/>
          </a:xfrm>
          <a:prstGeom prst="ellipse">
            <a:avLst/>
          </a:prstGeom>
          <a:solidFill>
            <a:srgbClr val="3A2E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8" name="מלבן: פינות מעוגלות 17">
            <a:extLst>
              <a:ext uri="{FF2B5EF4-FFF2-40B4-BE49-F238E27FC236}">
                <a16:creationId xmlns:a16="http://schemas.microsoft.com/office/drawing/2014/main" id="{CE773863-85B8-3998-A0AD-3CAAD4801D1B}"/>
              </a:ext>
            </a:extLst>
          </p:cNvPr>
          <p:cNvSpPr/>
          <p:nvPr/>
        </p:nvSpPr>
        <p:spPr>
          <a:xfrm>
            <a:off x="177800" y="6024271"/>
            <a:ext cx="1333500" cy="412750"/>
          </a:xfrm>
          <a:prstGeom prst="roundRect">
            <a:avLst>
              <a:gd name="adj" fmla="val 26712"/>
            </a:avLst>
          </a:prstGeom>
          <a:solidFill>
            <a:srgbClr val="1C1530"/>
          </a:solidFill>
          <a:ln w="12700" cap="flat" cmpd="sng" algn="ctr">
            <a:solidFill>
              <a:srgbClr val="2C24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9" name="מלבן: פינות מעוגלות 18">
            <a:extLst>
              <a:ext uri="{FF2B5EF4-FFF2-40B4-BE49-F238E27FC236}">
                <a16:creationId xmlns:a16="http://schemas.microsoft.com/office/drawing/2014/main" id="{5C839C40-AFF3-4625-A9BB-902E45DA7A70}"/>
              </a:ext>
            </a:extLst>
          </p:cNvPr>
          <p:cNvSpPr/>
          <p:nvPr/>
        </p:nvSpPr>
        <p:spPr>
          <a:xfrm>
            <a:off x="225424" y="5689600"/>
            <a:ext cx="315120" cy="88900"/>
          </a:xfrm>
          <a:prstGeom prst="roundRect">
            <a:avLst>
              <a:gd name="adj" fmla="val 35417"/>
            </a:avLst>
          </a:prstGeom>
          <a:solidFill>
            <a:srgbClr val="7A22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5891842A-E6D8-411D-85C7-B727B99ECD82}"/>
              </a:ext>
            </a:extLst>
          </p:cNvPr>
          <p:cNvSpPr txBox="1"/>
          <p:nvPr/>
        </p:nvSpPr>
        <p:spPr>
          <a:xfrm>
            <a:off x="214312" y="5676900"/>
            <a:ext cx="358775" cy="1016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he-IL" sz="600" dirty="0">
                <a:solidFill>
                  <a:srgbClr val="E89AA6"/>
                </a:solidFill>
              </a:rPr>
              <a:t>יציאה</a:t>
            </a:r>
          </a:p>
        </p:txBody>
      </p:sp>
      <p:sp>
        <p:nvSpPr>
          <p:cNvPr id="21" name="מלבן: פינות מעוגלות 20">
            <a:extLst>
              <a:ext uri="{FF2B5EF4-FFF2-40B4-BE49-F238E27FC236}">
                <a16:creationId xmlns:a16="http://schemas.microsoft.com/office/drawing/2014/main" id="{13399A85-99FC-411C-BC1D-762775B88138}"/>
              </a:ext>
            </a:extLst>
          </p:cNvPr>
          <p:cNvSpPr/>
          <p:nvPr/>
        </p:nvSpPr>
        <p:spPr>
          <a:xfrm>
            <a:off x="279400" y="6062452"/>
            <a:ext cx="317500" cy="266700"/>
          </a:xfrm>
          <a:prstGeom prst="roundRect">
            <a:avLst>
              <a:gd name="adj" fmla="val 27554"/>
            </a:avLst>
          </a:prstGeom>
          <a:solidFill>
            <a:srgbClr val="13B5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2" name="תיבת טקסט 21">
            <a:extLst>
              <a:ext uri="{FF2B5EF4-FFF2-40B4-BE49-F238E27FC236}">
                <a16:creationId xmlns:a16="http://schemas.microsoft.com/office/drawing/2014/main" id="{14C4C0AA-E583-463F-9C55-719012DBF1F2}"/>
              </a:ext>
            </a:extLst>
          </p:cNvPr>
          <p:cNvSpPr txBox="1"/>
          <p:nvPr/>
        </p:nvSpPr>
        <p:spPr>
          <a:xfrm>
            <a:off x="596900" y="6032500"/>
            <a:ext cx="825500" cy="1651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1000" b="1" dirty="0">
                <a:solidFill>
                  <a:srgbClr val="FFFFFF"/>
                </a:solidFill>
              </a:rPr>
              <a:t>הגדרות</a:t>
            </a:r>
          </a:p>
        </p:txBody>
      </p:sp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5938ED61-EEE8-4E13-9344-80ECF06DC4CE}"/>
              </a:ext>
            </a:extLst>
          </p:cNvPr>
          <p:cNvSpPr txBox="1"/>
          <p:nvPr/>
        </p:nvSpPr>
        <p:spPr>
          <a:xfrm>
            <a:off x="190500" y="6502400"/>
            <a:ext cx="1333500" cy="1143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pPr algn="l"/>
            <a:r>
              <a:rPr lang="en-US" sz="600">
                <a:solidFill>
                  <a:srgbClr val="7A7290"/>
                </a:solidFill>
              </a:rPr>
              <a:t>v1.0.0-dev.6  © 2026</a:t>
            </a:r>
            <a:endParaRPr lang="he-IL" sz="600">
              <a:solidFill>
                <a:srgbClr val="7A7290"/>
              </a:solidFill>
            </a:endParaRPr>
          </a:p>
        </p:txBody>
      </p:sp>
      <p:sp>
        <p:nvSpPr>
          <p:cNvPr id="49" name="תיבת טקסט 48">
            <a:extLst>
              <a:ext uri="{FF2B5EF4-FFF2-40B4-BE49-F238E27FC236}">
                <a16:creationId xmlns:a16="http://schemas.microsoft.com/office/drawing/2014/main" id="{7F15226F-4A24-414A-90AA-68236EEB1D86}"/>
              </a:ext>
            </a:extLst>
          </p:cNvPr>
          <p:cNvSpPr txBox="1"/>
          <p:nvPr/>
        </p:nvSpPr>
        <p:spPr>
          <a:xfrm>
            <a:off x="10926365" y="396875"/>
            <a:ext cx="880269" cy="1524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800" dirty="0">
                <a:solidFill>
                  <a:srgbClr val="B9B2C9"/>
                </a:solidFill>
              </a:rPr>
              <a:t>← חזרה לספרייה</a:t>
            </a:r>
          </a:p>
        </p:txBody>
      </p:sp>
      <p:sp>
        <p:nvSpPr>
          <p:cNvPr id="50" name="תיבת טקסט 49">
            <a:extLst>
              <a:ext uri="{FF2B5EF4-FFF2-40B4-BE49-F238E27FC236}">
                <a16:creationId xmlns:a16="http://schemas.microsoft.com/office/drawing/2014/main" id="{9D0C11DC-61AC-4D1E-B7A5-6DE33CC16AB5}"/>
              </a:ext>
            </a:extLst>
          </p:cNvPr>
          <p:cNvSpPr txBox="1"/>
          <p:nvPr/>
        </p:nvSpPr>
        <p:spPr>
          <a:xfrm>
            <a:off x="4502744" y="685800"/>
            <a:ext cx="2984979" cy="3556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en-US" sz="2700" b="1" dirty="0">
                <a:solidFill>
                  <a:srgbClr val="F4D70A"/>
                </a:solidFill>
              </a:rPr>
              <a:t>Cyberpunk 2077</a:t>
            </a:r>
            <a:endParaRPr lang="he-IL" sz="2700" b="1" dirty="0">
              <a:solidFill>
                <a:srgbClr val="F4D70A"/>
              </a:solidFill>
            </a:endParaRPr>
          </a:p>
        </p:txBody>
      </p:sp>
      <p:grpSp>
        <p:nvGrpSpPr>
          <p:cNvPr id="34" name="קבוצה 33">
            <a:extLst>
              <a:ext uri="{FF2B5EF4-FFF2-40B4-BE49-F238E27FC236}">
                <a16:creationId xmlns:a16="http://schemas.microsoft.com/office/drawing/2014/main" id="{F315BBD8-89AB-8433-7B66-061C01509DA1}"/>
              </a:ext>
            </a:extLst>
          </p:cNvPr>
          <p:cNvGrpSpPr/>
          <p:nvPr/>
        </p:nvGrpSpPr>
        <p:grpSpPr>
          <a:xfrm>
            <a:off x="4618956" y="1198352"/>
            <a:ext cx="2002768" cy="165100"/>
            <a:chOff x="4515444" y="1181100"/>
            <a:chExt cx="2002768" cy="165100"/>
          </a:xfrm>
        </p:grpSpPr>
        <p:sp>
          <p:nvSpPr>
            <p:cNvPr id="51" name="מלבן: פינות מעוגלות 50">
              <a:extLst>
                <a:ext uri="{FF2B5EF4-FFF2-40B4-BE49-F238E27FC236}">
                  <a16:creationId xmlns:a16="http://schemas.microsoft.com/office/drawing/2014/main" id="{3B4A1586-803A-4E96-9FDA-503D1AEAEB28}"/>
                </a:ext>
              </a:extLst>
            </p:cNvPr>
            <p:cNvSpPr/>
            <p:nvPr/>
          </p:nvSpPr>
          <p:spPr>
            <a:xfrm>
              <a:off x="4515444" y="1181100"/>
              <a:ext cx="520700" cy="165100"/>
            </a:xfrm>
            <a:prstGeom prst="roundRect">
              <a:avLst>
                <a:gd name="adj" fmla="val 50000"/>
              </a:avLst>
            </a:prstGeom>
            <a:solidFill>
              <a:srgbClr val="1B7A4A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1" anchor="ctr" anchorCtr="0">
              <a:noAutofit/>
            </a:bodyPr>
            <a:lstStyle/>
            <a:p>
              <a:pPr algn="ctr"/>
              <a:r>
                <a:rPr lang="he-IL" sz="700" b="1" dirty="0">
                  <a:solidFill>
                    <a:srgbClr val="FFFFFF"/>
                  </a:solidFill>
                </a:rPr>
                <a:t>✓ נרכש</a:t>
              </a:r>
            </a:p>
          </p:txBody>
        </p:sp>
        <p:sp>
          <p:nvSpPr>
            <p:cNvPr id="52" name="מלבן: פינות מעוגלות 51">
              <a:extLst>
                <a:ext uri="{FF2B5EF4-FFF2-40B4-BE49-F238E27FC236}">
                  <a16:creationId xmlns:a16="http://schemas.microsoft.com/office/drawing/2014/main" id="{5715DFC7-B00E-4C04-99F3-A58D3C3359A1}"/>
                </a:ext>
              </a:extLst>
            </p:cNvPr>
            <p:cNvSpPr/>
            <p:nvPr/>
          </p:nvSpPr>
          <p:spPr>
            <a:xfrm>
              <a:off x="5086944" y="1181100"/>
              <a:ext cx="685800" cy="165100"/>
            </a:xfrm>
            <a:prstGeom prst="roundRect">
              <a:avLst>
                <a:gd name="adj" fmla="val 50000"/>
              </a:avLst>
            </a:prstGeom>
            <a:solidFill>
              <a:srgbClr val="1B7A4A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1" anchor="ctr" anchorCtr="0">
              <a:noAutofit/>
            </a:bodyPr>
            <a:lstStyle/>
            <a:p>
              <a:pPr algn="ctr"/>
              <a:r>
                <a:rPr lang="he-IL" sz="700" b="1" dirty="0">
                  <a:solidFill>
                    <a:srgbClr val="FFFFFF"/>
                  </a:solidFill>
                </a:rPr>
                <a:t>תרגום מותקן</a:t>
              </a:r>
            </a:p>
          </p:txBody>
        </p:sp>
        <p:sp>
          <p:nvSpPr>
            <p:cNvPr id="55" name="מלבן: פינות מעוגלות 54">
              <a:extLst>
                <a:ext uri="{FF2B5EF4-FFF2-40B4-BE49-F238E27FC236}">
                  <a16:creationId xmlns:a16="http://schemas.microsoft.com/office/drawing/2014/main" id="{1DFC0180-BB77-4EC6-87B2-E603E31B19C8}"/>
                </a:ext>
              </a:extLst>
            </p:cNvPr>
            <p:cNvSpPr/>
            <p:nvPr/>
          </p:nvSpPr>
          <p:spPr>
            <a:xfrm>
              <a:off x="5832412" y="1181100"/>
              <a:ext cx="685800" cy="165100"/>
            </a:xfrm>
            <a:prstGeom prst="roundRect">
              <a:avLst>
                <a:gd name="adj" fmla="val 50000"/>
              </a:avLst>
            </a:prstGeom>
            <a:solidFill>
              <a:srgbClr val="2A2438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1" anchor="ctr" anchorCtr="0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C9C2D6"/>
                  </a:solidFill>
                </a:rPr>
                <a:t>v1.0.0-beta.3</a:t>
              </a:r>
              <a:endParaRPr lang="he-IL" sz="700" b="1" dirty="0">
                <a:solidFill>
                  <a:srgbClr val="C9C2D6"/>
                </a:solidFill>
              </a:endParaRPr>
            </a:p>
          </p:txBody>
        </p:sp>
      </p:grpSp>
      <p:sp>
        <p:nvSpPr>
          <p:cNvPr id="60" name="תיבת טקסט 59">
            <a:extLst>
              <a:ext uri="{FF2B5EF4-FFF2-40B4-BE49-F238E27FC236}">
                <a16:creationId xmlns:a16="http://schemas.microsoft.com/office/drawing/2014/main" id="{80B3A6A2-3E08-40EE-8413-D0994C6F9579}"/>
              </a:ext>
            </a:extLst>
          </p:cNvPr>
          <p:cNvSpPr txBox="1"/>
          <p:nvPr/>
        </p:nvSpPr>
        <p:spPr>
          <a:xfrm>
            <a:off x="4417200" y="1593808"/>
            <a:ext cx="3639748" cy="26694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1300" b="1" dirty="0">
                <a:solidFill>
                  <a:srgbClr val="FFFFFF"/>
                </a:solidFill>
              </a:rPr>
              <a:t>היכנסו לעולמו של </a:t>
            </a:r>
            <a:r>
              <a:rPr lang="en-US" sz="1300" b="1" dirty="0">
                <a:solidFill>
                  <a:srgbClr val="FFFFFF"/>
                </a:solidFill>
              </a:rPr>
              <a:t>V</a:t>
            </a:r>
            <a:r>
              <a:rPr lang="he-IL" sz="1300" b="1" dirty="0">
                <a:solidFill>
                  <a:srgbClr val="FFFFFF"/>
                </a:solidFill>
              </a:rPr>
              <a:t> ברחובות </a:t>
            </a:r>
            <a:r>
              <a:rPr lang="he-IL" sz="1300" b="1" dirty="0" err="1">
                <a:solidFill>
                  <a:srgbClr val="FFFFFF"/>
                </a:solidFill>
              </a:rPr>
              <a:t>נייט</a:t>
            </a:r>
            <a:r>
              <a:rPr lang="he-IL" sz="1300" b="1" dirty="0">
                <a:solidFill>
                  <a:srgbClr val="FFFFFF"/>
                </a:solidFill>
              </a:rPr>
              <a:t> סיטי</a:t>
            </a:r>
          </a:p>
        </p:txBody>
      </p:sp>
      <p:sp>
        <p:nvSpPr>
          <p:cNvPr id="61" name="תיבת טקסט 60">
            <a:extLst>
              <a:ext uri="{FF2B5EF4-FFF2-40B4-BE49-F238E27FC236}">
                <a16:creationId xmlns:a16="http://schemas.microsoft.com/office/drawing/2014/main" id="{D527EC53-523D-4B17-A2D6-45D649C4E8D6}"/>
              </a:ext>
            </a:extLst>
          </p:cNvPr>
          <p:cNvSpPr txBox="1"/>
          <p:nvPr/>
        </p:nvSpPr>
        <p:spPr>
          <a:xfrm>
            <a:off x="4443798" y="1898608"/>
            <a:ext cx="3604645" cy="501692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800" dirty="0">
                <a:solidFill>
                  <a:srgbClr val="B9B2C9"/>
                </a:solidFill>
              </a:rPr>
              <a:t>תרגום ענק המקיף מאות אלפי שורות דיאלוג, סלנג רחוב מחוספס ואווירה טכנולוגית ואווירה בלתי נשכחת — עכשיו בעברית.</a:t>
            </a:r>
          </a:p>
        </p:txBody>
      </p:sp>
      <p:sp>
        <p:nvSpPr>
          <p:cNvPr id="62" name="מלבן: פינות מעוגלות 61">
            <a:extLst>
              <a:ext uri="{FF2B5EF4-FFF2-40B4-BE49-F238E27FC236}">
                <a16:creationId xmlns:a16="http://schemas.microsoft.com/office/drawing/2014/main" id="{3A967588-B54B-42C1-A05E-72E03C87B066}"/>
              </a:ext>
            </a:extLst>
          </p:cNvPr>
          <p:cNvSpPr/>
          <p:nvPr/>
        </p:nvSpPr>
        <p:spPr>
          <a:xfrm>
            <a:off x="10744200" y="2170262"/>
            <a:ext cx="990600" cy="381000"/>
          </a:xfrm>
          <a:prstGeom prst="roundRect">
            <a:avLst/>
          </a:prstGeom>
          <a:solidFill>
            <a:srgbClr val="2A2438"/>
          </a:solidFill>
          <a:ln w="12700" cap="flat" cmpd="sng" algn="ctr">
            <a:solidFill>
              <a:srgbClr val="3A33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1" anchor="ctr" anchorCtr="0">
            <a:noAutofit/>
          </a:bodyPr>
          <a:lstStyle/>
          <a:p>
            <a:pPr algn="l"/>
            <a:r>
              <a:rPr lang="he-IL" sz="900">
                <a:solidFill>
                  <a:srgbClr val="D6D0E2"/>
                </a:solidFill>
              </a:rPr>
              <a:t>התקנה מחדש</a:t>
            </a:r>
          </a:p>
        </p:txBody>
      </p:sp>
      <p:sp>
        <p:nvSpPr>
          <p:cNvPr id="63" name="מלבן: פינות מעוגלות 62">
            <a:extLst>
              <a:ext uri="{FF2B5EF4-FFF2-40B4-BE49-F238E27FC236}">
                <a16:creationId xmlns:a16="http://schemas.microsoft.com/office/drawing/2014/main" id="{C18A1F89-A7BC-4BD9-A607-4CFB7FC7A5AE}"/>
              </a:ext>
            </a:extLst>
          </p:cNvPr>
          <p:cNvSpPr/>
          <p:nvPr/>
        </p:nvSpPr>
        <p:spPr>
          <a:xfrm>
            <a:off x="10744200" y="1663700"/>
            <a:ext cx="990600" cy="381000"/>
          </a:xfrm>
          <a:prstGeom prst="roundRect">
            <a:avLst/>
          </a:prstGeom>
          <a:solidFill>
            <a:srgbClr val="5E1E2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1" anchor="ctr" anchorCtr="0">
            <a:noAutofit/>
          </a:bodyPr>
          <a:lstStyle/>
          <a:p>
            <a:pPr algn="ctr"/>
            <a:r>
              <a:rPr lang="he-IL" sz="1000">
                <a:solidFill>
                  <a:srgbClr val="F0A8B4"/>
                </a:solidFill>
              </a:rPr>
              <a:t>הסרת התרגום</a:t>
            </a:r>
          </a:p>
        </p:txBody>
      </p:sp>
      <p:sp>
        <p:nvSpPr>
          <p:cNvPr id="64" name="מלבן: פינות מעוגלות 63">
            <a:extLst>
              <a:ext uri="{FF2B5EF4-FFF2-40B4-BE49-F238E27FC236}">
                <a16:creationId xmlns:a16="http://schemas.microsoft.com/office/drawing/2014/main" id="{00BFF788-C153-4F1B-9C3C-7D2E7A9435B7}"/>
              </a:ext>
            </a:extLst>
          </p:cNvPr>
          <p:cNvSpPr/>
          <p:nvPr/>
        </p:nvSpPr>
        <p:spPr>
          <a:xfrm>
            <a:off x="10744200" y="1157138"/>
            <a:ext cx="990600" cy="381000"/>
          </a:xfrm>
          <a:prstGeom prst="roundRect">
            <a:avLst/>
          </a:prstGeom>
          <a:solidFill>
            <a:srgbClr val="F4D70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1" anchor="ctr" anchorCtr="0">
            <a:noAutofit/>
          </a:bodyPr>
          <a:lstStyle/>
          <a:p>
            <a:pPr algn="l"/>
            <a:r>
              <a:rPr lang="he-IL" sz="1200" b="1" dirty="0">
                <a:solidFill>
                  <a:srgbClr val="1A1A1A"/>
                </a:solidFill>
              </a:rPr>
              <a:t>▶  הפעל</a:t>
            </a:r>
          </a:p>
        </p:txBody>
      </p:sp>
      <p:grpSp>
        <p:nvGrpSpPr>
          <p:cNvPr id="32" name="קבוצה 31">
            <a:extLst>
              <a:ext uri="{FF2B5EF4-FFF2-40B4-BE49-F238E27FC236}">
                <a16:creationId xmlns:a16="http://schemas.microsoft.com/office/drawing/2014/main" id="{9C17B39B-D3BE-D7D6-EDC9-06D4F5AAA0C4}"/>
              </a:ext>
            </a:extLst>
          </p:cNvPr>
          <p:cNvGrpSpPr/>
          <p:nvPr/>
        </p:nvGrpSpPr>
        <p:grpSpPr>
          <a:xfrm>
            <a:off x="1812744" y="453366"/>
            <a:ext cx="2463800" cy="3797300"/>
            <a:chOff x="9436100" y="647700"/>
            <a:chExt cx="2463800" cy="3797300"/>
          </a:xfrm>
        </p:grpSpPr>
        <p:sp>
          <p:nvSpPr>
            <p:cNvPr id="65" name="מלבן: פינות מעוגלות 64">
              <a:extLst>
                <a:ext uri="{FF2B5EF4-FFF2-40B4-BE49-F238E27FC236}">
                  <a16:creationId xmlns:a16="http://schemas.microsoft.com/office/drawing/2014/main" id="{8D1D28D1-DB03-4835-976C-ED3401732425}"/>
                </a:ext>
              </a:extLst>
            </p:cNvPr>
            <p:cNvSpPr/>
            <p:nvPr/>
          </p:nvSpPr>
          <p:spPr>
            <a:xfrm>
              <a:off x="9436100" y="647700"/>
              <a:ext cx="2463800" cy="3797300"/>
            </a:xfrm>
            <a:prstGeom prst="roundRect">
              <a:avLst>
                <a:gd name="adj" fmla="val 8259"/>
              </a:avLst>
            </a:prstGeom>
            <a:solidFill>
              <a:srgbClr val="F4D70A"/>
            </a:solidFill>
            <a:ln w="25400" cap="flat" cmpd="sng" algn="ctr">
              <a:solidFill>
                <a:srgbClr val="F4D70A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1" anchor="t"/>
            <a:lstStyle/>
            <a:p>
              <a:pPr algn="l"/>
              <a:endParaRPr lang="he-IL"/>
            </a:p>
          </p:txBody>
        </p:sp>
        <p:sp>
          <p:nvSpPr>
            <p:cNvPr id="66" name="מלבן: פינות מעוגלות 65">
              <a:extLst>
                <a:ext uri="{FF2B5EF4-FFF2-40B4-BE49-F238E27FC236}">
                  <a16:creationId xmlns:a16="http://schemas.microsoft.com/office/drawing/2014/main" id="{FFF29B85-B975-436F-8A5C-680540FCEC7F}"/>
                </a:ext>
              </a:extLst>
            </p:cNvPr>
            <p:cNvSpPr/>
            <p:nvPr/>
          </p:nvSpPr>
          <p:spPr>
            <a:xfrm>
              <a:off x="9525000" y="736600"/>
              <a:ext cx="2286000" cy="3619500"/>
            </a:xfrm>
            <a:prstGeom prst="roundRect">
              <a:avLst>
                <a:gd name="adj" fmla="val 5521"/>
              </a:avLst>
            </a:prstGeom>
            <a:solidFill>
              <a:srgbClr val="E6C800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1" anchor="t"/>
            <a:lstStyle/>
            <a:p>
              <a:pPr algn="l"/>
              <a:endParaRPr lang="he-IL"/>
            </a:p>
          </p:txBody>
        </p:sp>
        <p:sp>
          <p:nvSpPr>
            <p:cNvPr id="67" name="תיבת טקסט 66">
              <a:extLst>
                <a:ext uri="{FF2B5EF4-FFF2-40B4-BE49-F238E27FC236}">
                  <a16:creationId xmlns:a16="http://schemas.microsoft.com/office/drawing/2014/main" id="{DF2D64FB-C829-465E-AD60-70FD5D4B839A}"/>
                </a:ext>
              </a:extLst>
            </p:cNvPr>
            <p:cNvSpPr txBox="1"/>
            <p:nvPr/>
          </p:nvSpPr>
          <p:spPr>
            <a:xfrm>
              <a:off x="9664700" y="3644900"/>
              <a:ext cx="1993900" cy="254000"/>
            </a:xfrm>
            <a:prstGeom prst="rect">
              <a:avLst/>
            </a:prstGeom>
            <a:noFill/>
          </p:spPr>
          <p:txBody>
            <a:bodyPr vertOverflow="overflow" vert="horz" wrap="square" rtlCol="1" anchor="ctr" anchorCtr="0">
              <a:noAutofit/>
            </a:bodyPr>
            <a:lstStyle/>
            <a:p>
              <a:pPr algn="l"/>
              <a:r>
                <a:rPr lang="en-US" b="1">
                  <a:solidFill>
                    <a:srgbClr val="111111"/>
                  </a:solidFill>
                </a:rPr>
                <a:t>CYBERPUNK</a:t>
              </a:r>
              <a:endParaRPr lang="he-IL" b="1">
                <a:solidFill>
                  <a:srgbClr val="111111"/>
                </a:solidFill>
              </a:endParaRPr>
            </a:p>
          </p:txBody>
        </p:sp>
        <p:sp>
          <p:nvSpPr>
            <p:cNvPr id="68" name="תיבת טקסט 67">
              <a:extLst>
                <a:ext uri="{FF2B5EF4-FFF2-40B4-BE49-F238E27FC236}">
                  <a16:creationId xmlns:a16="http://schemas.microsoft.com/office/drawing/2014/main" id="{5E3AC11B-8FD9-433C-881E-DBD2AE442722}"/>
                </a:ext>
              </a:extLst>
            </p:cNvPr>
            <p:cNvSpPr txBox="1"/>
            <p:nvPr/>
          </p:nvSpPr>
          <p:spPr>
            <a:xfrm>
              <a:off x="9664700" y="3898900"/>
              <a:ext cx="1993900" cy="215900"/>
            </a:xfrm>
            <a:prstGeom prst="rect">
              <a:avLst/>
            </a:prstGeom>
            <a:noFill/>
          </p:spPr>
          <p:txBody>
            <a:bodyPr vertOverflow="overflow" vert="horz" wrap="square" rtlCol="1" anchor="ctr" anchorCtr="0">
              <a:noAutofit/>
            </a:bodyPr>
            <a:lstStyle/>
            <a:p>
              <a:pPr algn="l"/>
              <a:r>
                <a:rPr lang="he-IL" sz="1400" b="1">
                  <a:solidFill>
                    <a:srgbClr val="111111"/>
                  </a:solidFill>
                </a:rPr>
                <a:t>2077</a:t>
              </a:r>
            </a:p>
          </p:txBody>
        </p:sp>
      </p:grpSp>
      <p:pic>
        <p:nvPicPr>
          <p:cNvPr id="69" name="Graphic 69" descr="logo char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300" y="495300"/>
            <a:ext cx="215900" cy="215900"/>
          </a:xfrm>
          <a:prstGeom prst="rect">
            <a:avLst/>
          </a:prstGeom>
        </p:spPr>
      </p:pic>
      <p:pic>
        <p:nvPicPr>
          <p:cNvPr id="70" name="Graphic 70" descr="home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100" y="927100"/>
            <a:ext cx="165100" cy="165100"/>
          </a:xfrm>
          <a:prstGeom prst="rect">
            <a:avLst/>
          </a:prstGeom>
        </p:spPr>
      </p:pic>
      <p:pic>
        <p:nvPicPr>
          <p:cNvPr id="71" name="Graphic 71" descr="library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100" y="1244601"/>
            <a:ext cx="165100" cy="165100"/>
          </a:xfrm>
          <a:prstGeom prst="rect">
            <a:avLst/>
          </a:prstGeom>
        </p:spPr>
      </p:pic>
      <p:pic>
        <p:nvPicPr>
          <p:cNvPr id="72" name="Graphic 72" descr="downloads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9400" y="1561309"/>
            <a:ext cx="165100" cy="165100"/>
          </a:xfrm>
          <a:prstGeom prst="rect">
            <a:avLst/>
          </a:prstGeom>
        </p:spPr>
      </p:pic>
      <p:pic>
        <p:nvPicPr>
          <p:cNvPr id="73" name="Graphic 73" descr="account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2100" y="1879600"/>
            <a:ext cx="165100" cy="165100"/>
          </a:xfrm>
          <a:prstGeom prst="rect">
            <a:avLst/>
          </a:prstGeom>
        </p:spPr>
      </p:pic>
      <p:pic>
        <p:nvPicPr>
          <p:cNvPr id="74" name="Graphic 74" descr="settings gear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2900" y="6108700"/>
            <a:ext cx="177800" cy="177800"/>
          </a:xfrm>
          <a:prstGeom prst="rect">
            <a:avLst/>
          </a:prstGeom>
        </p:spPr>
      </p:pic>
      <p:pic>
        <p:nvPicPr>
          <p:cNvPr id="75" name="Graphic 75" descr="refresh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92100" y="6477000"/>
            <a:ext cx="139700" cy="13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837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קבוצה 17">
            <a:extLst>
              <a:ext uri="{FF2B5EF4-FFF2-40B4-BE49-F238E27FC236}">
                <a16:creationId xmlns:a16="http://schemas.microsoft.com/office/drawing/2014/main" id="{58036BBB-7E9C-56A8-3707-09E0261879BB}"/>
              </a:ext>
            </a:extLst>
          </p:cNvPr>
          <p:cNvGrpSpPr/>
          <p:nvPr/>
        </p:nvGrpSpPr>
        <p:grpSpPr>
          <a:xfrm>
            <a:off x="1864982" y="1037147"/>
            <a:ext cx="1861868" cy="4102100"/>
            <a:chOff x="1841500" y="736600"/>
            <a:chExt cx="1861868" cy="4102100"/>
          </a:xfrm>
        </p:grpSpPr>
        <p:sp>
          <p:nvSpPr>
            <p:cNvPr id="77" name="מלבן: פינות מעוגלות 76">
              <a:extLst>
                <a:ext uri="{FF2B5EF4-FFF2-40B4-BE49-F238E27FC236}">
                  <a16:creationId xmlns:a16="http://schemas.microsoft.com/office/drawing/2014/main" id="{CA3C8CF7-ED92-98A8-AC29-FA312E21FEF5}"/>
                </a:ext>
              </a:extLst>
            </p:cNvPr>
            <p:cNvSpPr/>
            <p:nvPr/>
          </p:nvSpPr>
          <p:spPr>
            <a:xfrm>
              <a:off x="1841500" y="736600"/>
              <a:ext cx="1861868" cy="4102100"/>
            </a:xfrm>
            <a:prstGeom prst="roundRect">
              <a:avLst>
                <a:gd name="adj" fmla="val 20306"/>
              </a:avLst>
            </a:prstGeom>
            <a:solidFill>
              <a:srgbClr val="2D2050"/>
            </a:solidFill>
            <a:ln w="317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1" anchor="t"/>
            <a:lstStyle/>
            <a:p>
              <a:pPr algn="r" rtl="0"/>
              <a:endParaRPr lang="he-IL" dirty="0"/>
            </a:p>
          </p:txBody>
        </p:sp>
        <p:sp>
          <p:nvSpPr>
            <p:cNvPr id="25" name="תיבת טקסט 24">
              <a:extLst>
                <a:ext uri="{FF2B5EF4-FFF2-40B4-BE49-F238E27FC236}">
                  <a16:creationId xmlns:a16="http://schemas.microsoft.com/office/drawing/2014/main" id="{EA755E84-B68D-405B-A7D8-FC0C45C2E474}"/>
                </a:ext>
              </a:extLst>
            </p:cNvPr>
            <p:cNvSpPr txBox="1"/>
            <p:nvPr/>
          </p:nvSpPr>
          <p:spPr>
            <a:xfrm>
              <a:off x="2603500" y="812800"/>
              <a:ext cx="977900" cy="203200"/>
            </a:xfrm>
            <a:prstGeom prst="rect">
              <a:avLst/>
            </a:prstGeom>
            <a:noFill/>
          </p:spPr>
          <p:txBody>
            <a:bodyPr vertOverflow="overflow" vert="horz" wrap="square" rtlCol="1" anchor="ctr" anchorCtr="0">
              <a:noAutofit/>
            </a:bodyPr>
            <a:lstStyle/>
            <a:p>
              <a:r>
                <a:rPr lang="he-IL" sz="1300" b="1" dirty="0">
                  <a:solidFill>
                    <a:srgbClr val="FFFFFF"/>
                  </a:solidFill>
                </a:rPr>
                <a:t>הגדרות</a:t>
              </a:r>
            </a:p>
          </p:txBody>
        </p:sp>
        <p:sp>
          <p:nvSpPr>
            <p:cNvPr id="26" name="תיבת טקסט 25">
              <a:extLst>
                <a:ext uri="{FF2B5EF4-FFF2-40B4-BE49-F238E27FC236}">
                  <a16:creationId xmlns:a16="http://schemas.microsoft.com/office/drawing/2014/main" id="{66E9FBE9-7E0D-4AF3-A3A5-5A076C821311}"/>
                </a:ext>
              </a:extLst>
            </p:cNvPr>
            <p:cNvSpPr txBox="1"/>
            <p:nvPr/>
          </p:nvSpPr>
          <p:spPr>
            <a:xfrm>
              <a:off x="2514600" y="1130300"/>
              <a:ext cx="1066800" cy="127000"/>
            </a:xfrm>
            <a:prstGeom prst="rect">
              <a:avLst/>
            </a:prstGeom>
            <a:noFill/>
          </p:spPr>
          <p:txBody>
            <a:bodyPr vertOverflow="overflow" vert="horz" wrap="square" rtlCol="1" anchor="ctr" anchorCtr="0">
              <a:noAutofit/>
            </a:bodyPr>
            <a:lstStyle/>
            <a:p>
              <a:r>
                <a:rPr lang="he-IL" sz="800" dirty="0">
                  <a:solidFill>
                    <a:srgbClr val="9A93AB"/>
                  </a:solidFill>
                </a:rPr>
                <a:t>נתיב התקנה</a:t>
              </a:r>
            </a:p>
          </p:txBody>
        </p:sp>
        <p:sp>
          <p:nvSpPr>
            <p:cNvPr id="27" name="מלבן: פינות מעוגלות 26">
              <a:extLst>
                <a:ext uri="{FF2B5EF4-FFF2-40B4-BE49-F238E27FC236}">
                  <a16:creationId xmlns:a16="http://schemas.microsoft.com/office/drawing/2014/main" id="{EF6ABA08-CB11-4D30-9058-6E3CEF10BE90}"/>
                </a:ext>
              </a:extLst>
            </p:cNvPr>
            <p:cNvSpPr/>
            <p:nvPr/>
          </p:nvSpPr>
          <p:spPr>
            <a:xfrm>
              <a:off x="1981200" y="1295400"/>
              <a:ext cx="1600200" cy="241300"/>
            </a:xfrm>
            <a:prstGeom prst="roundRect">
              <a:avLst/>
            </a:prstGeom>
            <a:solidFill>
              <a:srgbClr val="1C1730"/>
            </a:solidFill>
            <a:ln w="12700" cap="flat" cmpd="sng" algn="ctr">
              <a:solidFill>
                <a:srgbClr val="2E2740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1" anchor="ctr" anchorCtr="0">
              <a:noAutofit/>
            </a:bodyPr>
            <a:lstStyle/>
            <a:p>
              <a:pPr algn="l"/>
              <a:r>
                <a:rPr lang="en-US" sz="800">
                  <a:solidFill>
                    <a:srgbClr val="E6E1F0"/>
                  </a:solidFill>
                </a:rPr>
                <a:t>C:\Games\Cyberpunk 2077</a:t>
              </a:r>
              <a:endParaRPr lang="he-IL" sz="800">
                <a:solidFill>
                  <a:srgbClr val="E6E1F0"/>
                </a:solidFill>
              </a:endParaRPr>
            </a:p>
          </p:txBody>
        </p:sp>
        <p:sp>
          <p:nvSpPr>
            <p:cNvPr id="28" name="מלבן: פינות מעוגלות 27">
              <a:extLst>
                <a:ext uri="{FF2B5EF4-FFF2-40B4-BE49-F238E27FC236}">
                  <a16:creationId xmlns:a16="http://schemas.microsoft.com/office/drawing/2014/main" id="{FA33F172-8BFC-4E7E-915D-1FFA53FE96F0}"/>
                </a:ext>
              </a:extLst>
            </p:cNvPr>
            <p:cNvSpPr/>
            <p:nvPr/>
          </p:nvSpPr>
          <p:spPr>
            <a:xfrm>
              <a:off x="2959100" y="1600200"/>
              <a:ext cx="635000" cy="215900"/>
            </a:xfrm>
            <a:prstGeom prst="roundRect">
              <a:avLst/>
            </a:prstGeom>
            <a:solidFill>
              <a:srgbClr val="F4D70A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1" anchor="ctr" anchorCtr="0">
              <a:noAutofit/>
            </a:bodyPr>
            <a:lstStyle/>
            <a:p>
              <a:pPr algn="ctr"/>
              <a:r>
                <a:rPr lang="he-IL" sz="900" b="1" dirty="0">
                  <a:solidFill>
                    <a:srgbClr val="1A1A1A"/>
                  </a:solidFill>
                </a:rPr>
                <a:t>שמור</a:t>
              </a:r>
            </a:p>
          </p:txBody>
        </p:sp>
        <p:sp>
          <p:nvSpPr>
            <p:cNvPr id="29" name="מלבן: פינות מעוגלות 28">
              <a:extLst>
                <a:ext uri="{FF2B5EF4-FFF2-40B4-BE49-F238E27FC236}">
                  <a16:creationId xmlns:a16="http://schemas.microsoft.com/office/drawing/2014/main" id="{3D1B99D5-C290-473F-82B4-59268E86C588}"/>
                </a:ext>
              </a:extLst>
            </p:cNvPr>
            <p:cNvSpPr/>
            <p:nvPr/>
          </p:nvSpPr>
          <p:spPr>
            <a:xfrm>
              <a:off x="1981200" y="1600200"/>
              <a:ext cx="774700" cy="215900"/>
            </a:xfrm>
            <a:prstGeom prst="roundRect">
              <a:avLst/>
            </a:prstGeom>
            <a:solidFill>
              <a:srgbClr val="16111F"/>
            </a:solidFill>
            <a:ln w="12700" cap="flat" cmpd="sng" algn="ctr">
              <a:solidFill>
                <a:srgbClr val="3A3350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1" anchor="ctr" anchorCtr="0">
              <a:noAutofit/>
            </a:bodyPr>
            <a:lstStyle/>
            <a:p>
              <a:pPr algn="ctr"/>
              <a:r>
                <a:rPr lang="he-IL" sz="900">
                  <a:solidFill>
                    <a:srgbClr val="D6D0E2"/>
                  </a:solidFill>
                </a:rPr>
                <a:t>נקה</a:t>
              </a:r>
            </a:p>
          </p:txBody>
        </p:sp>
        <p:sp>
          <p:nvSpPr>
            <p:cNvPr id="30" name="מלבן: פינות מעוגלות 29">
              <a:extLst>
                <a:ext uri="{FF2B5EF4-FFF2-40B4-BE49-F238E27FC236}">
                  <a16:creationId xmlns:a16="http://schemas.microsoft.com/office/drawing/2014/main" id="{0C092A6B-28D7-4774-A6DD-547AF8F23AEE}"/>
                </a:ext>
              </a:extLst>
            </p:cNvPr>
            <p:cNvSpPr/>
            <p:nvPr/>
          </p:nvSpPr>
          <p:spPr>
            <a:xfrm>
              <a:off x="1981200" y="1943100"/>
              <a:ext cx="1600200" cy="241300"/>
            </a:xfrm>
            <a:prstGeom prst="roundRect">
              <a:avLst/>
            </a:prstGeom>
            <a:solidFill>
              <a:srgbClr val="16111F"/>
            </a:solidFill>
            <a:ln w="12700" cap="flat" cmpd="sng" algn="ctr">
              <a:solidFill>
                <a:srgbClr val="3A3350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1" anchor="ctr" anchorCtr="0">
              <a:noAutofit/>
            </a:bodyPr>
            <a:lstStyle/>
            <a:p>
              <a:pPr algn="ctr"/>
              <a:r>
                <a:rPr lang="he-IL" sz="900" dirty="0">
                  <a:solidFill>
                    <a:srgbClr val="D6D0E2"/>
                  </a:solidFill>
                </a:rPr>
                <a:t>פתח תיקיית משחק</a:t>
              </a:r>
            </a:p>
          </p:txBody>
        </p:sp>
        <p:sp>
          <p:nvSpPr>
            <p:cNvPr id="31" name="תיבת טקסט 30">
              <a:extLst>
                <a:ext uri="{FF2B5EF4-FFF2-40B4-BE49-F238E27FC236}">
                  <a16:creationId xmlns:a16="http://schemas.microsoft.com/office/drawing/2014/main" id="{6CA4E9D6-C54A-40AE-976C-2BC84B56D31D}"/>
                </a:ext>
              </a:extLst>
            </p:cNvPr>
            <p:cNvSpPr txBox="1"/>
            <p:nvPr/>
          </p:nvSpPr>
          <p:spPr>
            <a:xfrm>
              <a:off x="2559050" y="2381250"/>
              <a:ext cx="1066800" cy="127000"/>
            </a:xfrm>
            <a:prstGeom prst="rect">
              <a:avLst/>
            </a:prstGeom>
            <a:noFill/>
          </p:spPr>
          <p:txBody>
            <a:bodyPr vertOverflow="overflow" vert="horz" wrap="square" rtlCol="1" anchor="ctr" anchorCtr="0">
              <a:noAutofit/>
            </a:bodyPr>
            <a:lstStyle/>
            <a:p>
              <a:r>
                <a:rPr lang="he-IL" sz="800" dirty="0">
                  <a:solidFill>
                    <a:srgbClr val="9A93AB"/>
                  </a:solidFill>
                </a:rPr>
                <a:t>שפת המשחק</a:t>
              </a:r>
            </a:p>
          </p:txBody>
        </p:sp>
        <p:sp>
          <p:nvSpPr>
            <p:cNvPr id="33" name="מלבן: פינות מעוגלות 32">
              <a:extLst>
                <a:ext uri="{FF2B5EF4-FFF2-40B4-BE49-F238E27FC236}">
                  <a16:creationId xmlns:a16="http://schemas.microsoft.com/office/drawing/2014/main" id="{54D7555D-DA1F-41D4-B829-D9FFA3EE2744}"/>
                </a:ext>
              </a:extLst>
            </p:cNvPr>
            <p:cNvSpPr/>
            <p:nvPr/>
          </p:nvSpPr>
          <p:spPr>
            <a:xfrm>
              <a:off x="3074195" y="2577706"/>
              <a:ext cx="469900" cy="203200"/>
            </a:xfrm>
            <a:prstGeom prst="roundRect">
              <a:avLst/>
            </a:prstGeom>
            <a:solidFill>
              <a:srgbClr val="F4D70A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1" anchor="ctr" anchorCtr="0">
              <a:noAutofit/>
            </a:bodyPr>
            <a:lstStyle/>
            <a:p>
              <a:pPr algn="ctr"/>
              <a:r>
                <a:rPr lang="he-IL" sz="800" b="1" dirty="0">
                  <a:solidFill>
                    <a:srgbClr val="1A1A1A"/>
                  </a:solidFill>
                </a:rPr>
                <a:t>אוטומטי</a:t>
              </a:r>
            </a:p>
          </p:txBody>
        </p:sp>
        <p:sp>
          <p:nvSpPr>
            <p:cNvPr id="36" name="תיבת טקסט 35">
              <a:extLst>
                <a:ext uri="{FF2B5EF4-FFF2-40B4-BE49-F238E27FC236}">
                  <a16:creationId xmlns:a16="http://schemas.microsoft.com/office/drawing/2014/main" id="{205689B5-15B9-419D-9A8F-11BE070F3C5E}"/>
                </a:ext>
              </a:extLst>
            </p:cNvPr>
            <p:cNvSpPr txBox="1"/>
            <p:nvPr/>
          </p:nvSpPr>
          <p:spPr>
            <a:xfrm>
              <a:off x="1981200" y="2832100"/>
              <a:ext cx="1600200" cy="254000"/>
            </a:xfrm>
            <a:prstGeom prst="rect">
              <a:avLst/>
            </a:prstGeom>
            <a:noFill/>
          </p:spPr>
          <p:txBody>
            <a:bodyPr vertOverflow="overflow" vert="horz" wrap="square" rtlCol="1" anchor="ctr" anchorCtr="0">
              <a:noAutofit/>
            </a:bodyPr>
            <a:lstStyle/>
            <a:p>
              <a:r>
                <a:rPr lang="he-IL" sz="650" dirty="0">
                  <a:solidFill>
                    <a:srgbClr val="8A8398"/>
                  </a:solidFill>
                </a:rPr>
                <a:t>☑ שמור לשפה שלפני (משוחזר) · התוכנית כעת: עברית (עברית)</a:t>
              </a:r>
            </a:p>
          </p:txBody>
        </p:sp>
        <p:sp>
          <p:nvSpPr>
            <p:cNvPr id="37" name="תיבת טקסט 36">
              <a:extLst>
                <a:ext uri="{FF2B5EF4-FFF2-40B4-BE49-F238E27FC236}">
                  <a16:creationId xmlns:a16="http://schemas.microsoft.com/office/drawing/2014/main" id="{D16D871D-A50D-46F2-B556-EE7959D20691}"/>
                </a:ext>
              </a:extLst>
            </p:cNvPr>
            <p:cNvSpPr txBox="1"/>
            <p:nvPr/>
          </p:nvSpPr>
          <p:spPr>
            <a:xfrm>
              <a:off x="1981200" y="3060700"/>
              <a:ext cx="1600200" cy="393700"/>
            </a:xfrm>
            <a:prstGeom prst="rect">
              <a:avLst/>
            </a:prstGeom>
            <a:noFill/>
          </p:spPr>
          <p:txBody>
            <a:bodyPr vertOverflow="overflow" vert="horz" wrap="square" rtlCol="1" anchor="ctr" anchorCtr="0">
              <a:noAutofit/>
            </a:bodyPr>
            <a:lstStyle/>
            <a:p>
              <a:r>
                <a:rPr lang="he-IL" sz="650" dirty="0">
                  <a:solidFill>
                    <a:srgbClr val="7E7690"/>
                  </a:solidFill>
                </a:rPr>
                <a:t>החלפת השפה תיכנס לתוקף בהפעלה הבאה של המשחק. בחירת "עברית" משחזרת את העברית בכל המשחק (כיוון </a:t>
              </a:r>
              <a:r>
                <a:rPr lang="en-US" sz="650" dirty="0">
                  <a:solidFill>
                    <a:srgbClr val="7E7690"/>
                  </a:solidFill>
                </a:rPr>
                <a:t>RTL</a:t>
              </a:r>
              <a:r>
                <a:rPr lang="he-IL" sz="650" dirty="0">
                  <a:solidFill>
                    <a:srgbClr val="7E7690"/>
                  </a:solidFill>
                </a:rPr>
                <a:t> מובנה).</a:t>
              </a:r>
            </a:p>
          </p:txBody>
        </p:sp>
        <p:sp>
          <p:nvSpPr>
            <p:cNvPr id="38" name="מלבן: פינות מעוגלות 37">
              <a:extLst>
                <a:ext uri="{FF2B5EF4-FFF2-40B4-BE49-F238E27FC236}">
                  <a16:creationId xmlns:a16="http://schemas.microsoft.com/office/drawing/2014/main" id="{2AA55906-8E47-4DA9-9C9E-E6ADDD194C91}"/>
                </a:ext>
              </a:extLst>
            </p:cNvPr>
            <p:cNvSpPr/>
            <p:nvPr/>
          </p:nvSpPr>
          <p:spPr>
            <a:xfrm>
              <a:off x="1981200" y="3492500"/>
              <a:ext cx="1600200" cy="241300"/>
            </a:xfrm>
            <a:prstGeom prst="roundRect">
              <a:avLst/>
            </a:prstGeom>
            <a:solidFill>
              <a:srgbClr val="16111F"/>
            </a:solidFill>
            <a:ln w="15875" cap="flat" cmpd="sng" algn="ctr">
              <a:solidFill>
                <a:srgbClr val="7A2230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1" anchor="ctr" anchorCtr="0">
              <a:noAutofit/>
            </a:bodyPr>
            <a:lstStyle/>
            <a:p>
              <a:pPr algn="ctr"/>
              <a:r>
                <a:rPr lang="he-IL" sz="900" dirty="0">
                  <a:solidFill>
                    <a:srgbClr val="E0B0BA"/>
                  </a:solidFill>
                </a:rPr>
                <a:t>ניקוי מטמון התרגום</a:t>
              </a:r>
            </a:p>
          </p:txBody>
        </p:sp>
        <p:grpSp>
          <p:nvGrpSpPr>
            <p:cNvPr id="81" name="קבוצה 80">
              <a:extLst>
                <a:ext uri="{FF2B5EF4-FFF2-40B4-BE49-F238E27FC236}">
                  <a16:creationId xmlns:a16="http://schemas.microsoft.com/office/drawing/2014/main" id="{D146B314-74E3-4238-98D2-477CBF84BBFB}"/>
                </a:ext>
              </a:extLst>
            </p:cNvPr>
            <p:cNvGrpSpPr/>
            <p:nvPr/>
          </p:nvGrpSpPr>
          <p:grpSpPr>
            <a:xfrm>
              <a:off x="1911350" y="3898900"/>
              <a:ext cx="977900" cy="749300"/>
              <a:chOff x="2603500" y="3987800"/>
              <a:chExt cx="977900" cy="749300"/>
            </a:xfrm>
          </p:grpSpPr>
          <p:sp>
            <p:nvSpPr>
              <p:cNvPr id="39" name="תיבת טקסט 38">
                <a:extLst>
                  <a:ext uri="{FF2B5EF4-FFF2-40B4-BE49-F238E27FC236}">
                    <a16:creationId xmlns:a16="http://schemas.microsoft.com/office/drawing/2014/main" id="{064C42C8-A6BA-45A3-95B8-FDB77785E9F8}"/>
                  </a:ext>
                </a:extLst>
              </p:cNvPr>
              <p:cNvSpPr txBox="1"/>
              <p:nvPr/>
            </p:nvSpPr>
            <p:spPr>
              <a:xfrm>
                <a:off x="2603500" y="3987800"/>
                <a:ext cx="977900" cy="127000"/>
              </a:xfrm>
              <a:prstGeom prst="rect">
                <a:avLst/>
              </a:prstGeom>
              <a:noFill/>
            </p:spPr>
            <p:txBody>
              <a:bodyPr vertOverflow="overflow" vert="horz" wrap="square" rtlCol="1" anchor="ctr" anchorCtr="0">
                <a:noAutofit/>
              </a:bodyPr>
              <a:lstStyle/>
              <a:p>
                <a:pPr algn="l"/>
                <a:r>
                  <a:rPr lang="he-IL" sz="800" dirty="0">
                    <a:solidFill>
                      <a:srgbClr val="9A93AB"/>
                    </a:solidFill>
                  </a:rPr>
                  <a:t>זמינות</a:t>
                </a:r>
              </a:p>
            </p:txBody>
          </p:sp>
          <p:sp>
            <p:nvSpPr>
              <p:cNvPr id="41" name="תיבת טקסט 40">
                <a:extLst>
                  <a:ext uri="{FF2B5EF4-FFF2-40B4-BE49-F238E27FC236}">
                    <a16:creationId xmlns:a16="http://schemas.microsoft.com/office/drawing/2014/main" id="{6AC154A5-A04A-4441-B041-ED588A5FAB03}"/>
                  </a:ext>
                </a:extLst>
              </p:cNvPr>
              <p:cNvSpPr txBox="1"/>
              <p:nvPr/>
            </p:nvSpPr>
            <p:spPr>
              <a:xfrm>
                <a:off x="2603500" y="4140200"/>
                <a:ext cx="977900" cy="127000"/>
              </a:xfrm>
              <a:prstGeom prst="rect">
                <a:avLst/>
              </a:prstGeom>
              <a:noFill/>
            </p:spPr>
            <p:txBody>
              <a:bodyPr vertOverflow="overflow" vert="horz" wrap="square" rtlCol="1" anchor="ctr" anchorCtr="0">
                <a:noAutofit/>
              </a:bodyPr>
              <a:lstStyle/>
              <a:p>
                <a:pPr algn="l"/>
                <a:r>
                  <a:rPr lang="he-IL" sz="800" dirty="0">
                    <a:solidFill>
                      <a:srgbClr val="9A93AB"/>
                    </a:solidFill>
                  </a:rPr>
                  <a:t>גרסה</a:t>
                </a:r>
              </a:p>
            </p:txBody>
          </p:sp>
          <p:sp>
            <p:nvSpPr>
              <p:cNvPr id="43" name="תיבת טקסט 42">
                <a:extLst>
                  <a:ext uri="{FF2B5EF4-FFF2-40B4-BE49-F238E27FC236}">
                    <a16:creationId xmlns:a16="http://schemas.microsoft.com/office/drawing/2014/main" id="{F0728837-4012-429F-96F0-08C23516EFEA}"/>
                  </a:ext>
                </a:extLst>
              </p:cNvPr>
              <p:cNvSpPr txBox="1"/>
              <p:nvPr/>
            </p:nvSpPr>
            <p:spPr>
              <a:xfrm>
                <a:off x="2603500" y="4292600"/>
                <a:ext cx="977900" cy="127000"/>
              </a:xfrm>
              <a:prstGeom prst="rect">
                <a:avLst/>
              </a:prstGeom>
              <a:noFill/>
            </p:spPr>
            <p:txBody>
              <a:bodyPr vertOverflow="overflow" vert="horz" wrap="square" rtlCol="1" anchor="ctr" anchorCtr="0">
                <a:noAutofit/>
              </a:bodyPr>
              <a:lstStyle/>
              <a:p>
                <a:pPr algn="l"/>
                <a:r>
                  <a:rPr lang="he-IL" sz="800" dirty="0">
                    <a:solidFill>
                      <a:srgbClr val="9A93AB"/>
                    </a:solidFill>
                  </a:rPr>
                  <a:t>התקנה</a:t>
                </a:r>
              </a:p>
            </p:txBody>
          </p:sp>
          <p:sp>
            <p:nvSpPr>
              <p:cNvPr id="45" name="תיבת טקסט 44">
                <a:extLst>
                  <a:ext uri="{FF2B5EF4-FFF2-40B4-BE49-F238E27FC236}">
                    <a16:creationId xmlns:a16="http://schemas.microsoft.com/office/drawing/2014/main" id="{703F273E-1406-40E3-9D87-9461121DA863}"/>
                  </a:ext>
                </a:extLst>
              </p:cNvPr>
              <p:cNvSpPr txBox="1"/>
              <p:nvPr/>
            </p:nvSpPr>
            <p:spPr>
              <a:xfrm>
                <a:off x="2603500" y="4457700"/>
                <a:ext cx="977900" cy="127000"/>
              </a:xfrm>
              <a:prstGeom prst="rect">
                <a:avLst/>
              </a:prstGeom>
              <a:noFill/>
            </p:spPr>
            <p:txBody>
              <a:bodyPr vertOverflow="overflow" vert="horz" wrap="square" rtlCol="1" anchor="ctr" anchorCtr="0">
                <a:noAutofit/>
              </a:bodyPr>
              <a:lstStyle/>
              <a:p>
                <a:pPr algn="l"/>
                <a:r>
                  <a:rPr lang="he-IL" sz="800" dirty="0">
                    <a:solidFill>
                      <a:srgbClr val="9A93AB"/>
                    </a:solidFill>
                  </a:rPr>
                  <a:t>תמיכת מוד</a:t>
                </a:r>
              </a:p>
            </p:txBody>
          </p:sp>
          <p:sp>
            <p:nvSpPr>
              <p:cNvPr id="47" name="תיבת טקסט 46">
                <a:extLst>
                  <a:ext uri="{FF2B5EF4-FFF2-40B4-BE49-F238E27FC236}">
                    <a16:creationId xmlns:a16="http://schemas.microsoft.com/office/drawing/2014/main" id="{92D5372A-AE9F-428C-8949-40C89AAFCC62}"/>
                  </a:ext>
                </a:extLst>
              </p:cNvPr>
              <p:cNvSpPr txBox="1"/>
              <p:nvPr/>
            </p:nvSpPr>
            <p:spPr>
              <a:xfrm>
                <a:off x="2603500" y="4610100"/>
                <a:ext cx="977900" cy="127000"/>
              </a:xfrm>
              <a:prstGeom prst="rect">
                <a:avLst/>
              </a:prstGeom>
              <a:noFill/>
            </p:spPr>
            <p:txBody>
              <a:bodyPr vertOverflow="overflow" vert="horz" wrap="square" rtlCol="1" anchor="ctr" anchorCtr="0">
                <a:noAutofit/>
              </a:bodyPr>
              <a:lstStyle/>
              <a:p>
                <a:pPr algn="l"/>
                <a:r>
                  <a:rPr lang="he-IL" sz="800" dirty="0">
                    <a:solidFill>
                      <a:srgbClr val="9A93AB"/>
                    </a:solidFill>
                  </a:rPr>
                  <a:t>סטטוס מוד</a:t>
                </a:r>
              </a:p>
            </p:txBody>
          </p:sp>
        </p:grpSp>
        <p:grpSp>
          <p:nvGrpSpPr>
            <p:cNvPr id="82" name="קבוצה 81">
              <a:extLst>
                <a:ext uri="{FF2B5EF4-FFF2-40B4-BE49-F238E27FC236}">
                  <a16:creationId xmlns:a16="http://schemas.microsoft.com/office/drawing/2014/main" id="{9ADAD872-73F5-C49B-93D2-D490E6F686B3}"/>
                </a:ext>
              </a:extLst>
            </p:cNvPr>
            <p:cNvGrpSpPr/>
            <p:nvPr/>
          </p:nvGrpSpPr>
          <p:grpSpPr>
            <a:xfrm>
              <a:off x="2837252" y="3898900"/>
              <a:ext cx="816514" cy="749300"/>
              <a:chOff x="2923112" y="3898900"/>
              <a:chExt cx="816514" cy="749300"/>
            </a:xfrm>
          </p:grpSpPr>
          <p:sp>
            <p:nvSpPr>
              <p:cNvPr id="40" name="תיבת טקסט 39">
                <a:extLst>
                  <a:ext uri="{FF2B5EF4-FFF2-40B4-BE49-F238E27FC236}">
                    <a16:creationId xmlns:a16="http://schemas.microsoft.com/office/drawing/2014/main" id="{A1D0930C-78CC-48C6-A864-C6DA91ADD0EA}"/>
                  </a:ext>
                </a:extLst>
              </p:cNvPr>
              <p:cNvSpPr txBox="1"/>
              <p:nvPr/>
            </p:nvSpPr>
            <p:spPr>
              <a:xfrm>
                <a:off x="3065987" y="3898900"/>
                <a:ext cx="669131" cy="127000"/>
              </a:xfrm>
              <a:prstGeom prst="rect">
                <a:avLst/>
              </a:prstGeom>
              <a:noFill/>
            </p:spPr>
            <p:txBody>
              <a:bodyPr vertOverflow="overflow" vert="horz" wrap="square" rtlCol="1" anchor="ctr" anchorCtr="0">
                <a:noAutofit/>
              </a:bodyPr>
              <a:lstStyle/>
              <a:p>
                <a:r>
                  <a:rPr lang="he-IL" sz="800" dirty="0">
                    <a:solidFill>
                      <a:srgbClr val="E6E1F0"/>
                    </a:solidFill>
                  </a:rPr>
                  <a:t>זמין</a:t>
                </a:r>
              </a:p>
            </p:txBody>
          </p:sp>
          <p:sp>
            <p:nvSpPr>
              <p:cNvPr id="42" name="תיבת טקסט 41">
                <a:extLst>
                  <a:ext uri="{FF2B5EF4-FFF2-40B4-BE49-F238E27FC236}">
                    <a16:creationId xmlns:a16="http://schemas.microsoft.com/office/drawing/2014/main" id="{460D4634-7954-4738-98CF-F4C3F5C4021F}"/>
                  </a:ext>
                </a:extLst>
              </p:cNvPr>
              <p:cNvSpPr txBox="1"/>
              <p:nvPr/>
            </p:nvSpPr>
            <p:spPr>
              <a:xfrm>
                <a:off x="2923112" y="4054475"/>
                <a:ext cx="812006" cy="127000"/>
              </a:xfrm>
              <a:prstGeom prst="rect">
                <a:avLst/>
              </a:prstGeom>
              <a:noFill/>
            </p:spPr>
            <p:txBody>
              <a:bodyPr vertOverflow="overflow" vert="horz" wrap="square" rtlCol="1" anchor="ctr" anchorCtr="0">
                <a:noAutofit/>
              </a:bodyPr>
              <a:lstStyle/>
              <a:p>
                <a:r>
                  <a:rPr lang="en-US" sz="800" dirty="0">
                    <a:solidFill>
                      <a:srgbClr val="E6E1F0"/>
                    </a:solidFill>
                  </a:rPr>
                  <a:t>v1.0.0-beta.3</a:t>
                </a:r>
                <a:endParaRPr lang="he-IL" sz="800" dirty="0">
                  <a:solidFill>
                    <a:srgbClr val="E6E1F0"/>
                  </a:solidFill>
                </a:endParaRPr>
              </a:p>
            </p:txBody>
          </p:sp>
          <p:sp>
            <p:nvSpPr>
              <p:cNvPr id="44" name="תיבת טקסט 43">
                <a:extLst>
                  <a:ext uri="{FF2B5EF4-FFF2-40B4-BE49-F238E27FC236}">
                    <a16:creationId xmlns:a16="http://schemas.microsoft.com/office/drawing/2014/main" id="{8E3870C6-FA71-4E53-AF02-C32636ADD110}"/>
                  </a:ext>
                </a:extLst>
              </p:cNvPr>
              <p:cNvSpPr txBox="1"/>
              <p:nvPr/>
            </p:nvSpPr>
            <p:spPr>
              <a:xfrm>
                <a:off x="3115199" y="4210050"/>
                <a:ext cx="622300" cy="127000"/>
              </a:xfrm>
              <a:prstGeom prst="rect">
                <a:avLst/>
              </a:prstGeom>
              <a:noFill/>
            </p:spPr>
            <p:txBody>
              <a:bodyPr vertOverflow="overflow" vert="horz" wrap="square" rtlCol="1" anchor="ctr" anchorCtr="0">
                <a:noAutofit/>
              </a:bodyPr>
              <a:lstStyle/>
              <a:p>
                <a:r>
                  <a:rPr lang="he-IL" sz="800" dirty="0">
                    <a:solidFill>
                      <a:srgbClr val="E6E1F0"/>
                    </a:solidFill>
                  </a:rPr>
                  <a:t>מותקן</a:t>
                </a:r>
              </a:p>
            </p:txBody>
          </p:sp>
          <p:sp>
            <p:nvSpPr>
              <p:cNvPr id="46" name="תיבת טקסט 45">
                <a:extLst>
                  <a:ext uri="{FF2B5EF4-FFF2-40B4-BE49-F238E27FC236}">
                    <a16:creationId xmlns:a16="http://schemas.microsoft.com/office/drawing/2014/main" id="{E06087F2-A53B-435A-BD85-7ECC4A8285F5}"/>
                  </a:ext>
                </a:extLst>
              </p:cNvPr>
              <p:cNvSpPr txBox="1"/>
              <p:nvPr/>
            </p:nvSpPr>
            <p:spPr>
              <a:xfrm>
                <a:off x="3141932" y="4365625"/>
                <a:ext cx="597694" cy="127000"/>
              </a:xfrm>
              <a:prstGeom prst="rect">
                <a:avLst/>
              </a:prstGeom>
              <a:noFill/>
            </p:spPr>
            <p:txBody>
              <a:bodyPr vertOverflow="overflow" vert="horz" wrap="square" rtlCol="1" anchor="ctr" anchorCtr="0">
                <a:noAutofit/>
              </a:bodyPr>
              <a:lstStyle/>
              <a:p>
                <a:r>
                  <a:rPr lang="he-IL" sz="800" dirty="0">
                    <a:solidFill>
                      <a:srgbClr val="E6E1F0"/>
                    </a:solidFill>
                  </a:rPr>
                  <a:t>כן</a:t>
                </a:r>
              </a:p>
            </p:txBody>
          </p:sp>
          <p:sp>
            <p:nvSpPr>
              <p:cNvPr id="48" name="תיבת טקסט 47">
                <a:extLst>
                  <a:ext uri="{FF2B5EF4-FFF2-40B4-BE49-F238E27FC236}">
                    <a16:creationId xmlns:a16="http://schemas.microsoft.com/office/drawing/2014/main" id="{AF5FEA37-9F67-4D9A-AC31-AAE4D1609AF9}"/>
                  </a:ext>
                </a:extLst>
              </p:cNvPr>
              <p:cNvSpPr txBox="1"/>
              <p:nvPr/>
            </p:nvSpPr>
            <p:spPr>
              <a:xfrm>
                <a:off x="3092180" y="4521200"/>
                <a:ext cx="642938" cy="127000"/>
              </a:xfrm>
              <a:prstGeom prst="rect">
                <a:avLst/>
              </a:prstGeom>
              <a:noFill/>
            </p:spPr>
            <p:txBody>
              <a:bodyPr vertOverflow="overflow" vert="horz" wrap="square" rtlCol="1" anchor="ctr" anchorCtr="0">
                <a:noAutofit/>
              </a:bodyPr>
              <a:lstStyle/>
              <a:p>
                <a:r>
                  <a:rPr lang="he-IL" sz="800" dirty="0">
                    <a:solidFill>
                      <a:srgbClr val="E6E1F0"/>
                    </a:solidFill>
                  </a:rPr>
                  <a:t>תרגום פעיל</a:t>
                </a:r>
              </a:p>
            </p:txBody>
          </p:sp>
        </p:grpSp>
        <p:sp>
          <p:nvSpPr>
            <p:cNvPr id="78" name="מלבן: פינות מעוגלות 77">
              <a:extLst>
                <a:ext uri="{FF2B5EF4-FFF2-40B4-BE49-F238E27FC236}">
                  <a16:creationId xmlns:a16="http://schemas.microsoft.com/office/drawing/2014/main" id="{CFF9B838-AD21-1E3F-49E7-9006485B9D1F}"/>
                </a:ext>
              </a:extLst>
            </p:cNvPr>
            <p:cNvSpPr/>
            <p:nvPr/>
          </p:nvSpPr>
          <p:spPr>
            <a:xfrm>
              <a:off x="2531270" y="2577706"/>
              <a:ext cx="469900" cy="203200"/>
            </a:xfrm>
            <a:prstGeom prst="roundRect">
              <a:avLst/>
            </a:prstGeom>
            <a:solidFill>
              <a:srgbClr val="150F26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1" anchor="ctr" anchorCtr="0">
              <a:noAutofit/>
            </a:bodyPr>
            <a:lstStyle/>
            <a:p>
              <a:pPr algn="ctr"/>
              <a:r>
                <a:rPr lang="he-IL" sz="800" b="1" dirty="0">
                  <a:solidFill>
                    <a:schemeClr val="bg1"/>
                  </a:solidFill>
                </a:rPr>
                <a:t>עברית</a:t>
              </a:r>
            </a:p>
          </p:txBody>
        </p:sp>
        <p:sp>
          <p:nvSpPr>
            <p:cNvPr id="79" name="מלבן: פינות מעוגלות 78">
              <a:extLst>
                <a:ext uri="{FF2B5EF4-FFF2-40B4-BE49-F238E27FC236}">
                  <a16:creationId xmlns:a16="http://schemas.microsoft.com/office/drawing/2014/main" id="{B5561B81-9837-23FF-D3B9-1E6465D2F3A2}"/>
                </a:ext>
              </a:extLst>
            </p:cNvPr>
            <p:cNvSpPr/>
            <p:nvPr/>
          </p:nvSpPr>
          <p:spPr>
            <a:xfrm>
              <a:off x="1988345" y="2577706"/>
              <a:ext cx="469900" cy="203200"/>
            </a:xfrm>
            <a:prstGeom prst="roundRect">
              <a:avLst/>
            </a:prstGeom>
            <a:solidFill>
              <a:srgbClr val="150F26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1" anchor="ctr" anchorCtr="0">
              <a:noAutofit/>
            </a:bodyPr>
            <a:lstStyle/>
            <a:p>
              <a:pPr algn="ctr"/>
              <a:r>
                <a:rPr lang="he-IL" sz="800" b="1" dirty="0">
                  <a:solidFill>
                    <a:schemeClr val="bg1"/>
                  </a:solidFill>
                </a:rPr>
                <a:t>אנגלית</a:t>
              </a:r>
            </a:p>
          </p:txBody>
        </p:sp>
      </p:grpSp>
      <p:sp>
        <p:nvSpPr>
          <p:cNvPr id="56" name="מלבן: פינות מעוגלות 55">
            <a:extLst>
              <a:ext uri="{FF2B5EF4-FFF2-40B4-BE49-F238E27FC236}">
                <a16:creationId xmlns:a16="http://schemas.microsoft.com/office/drawing/2014/main" id="{B526C34C-D529-498D-A3CC-1A89DC9E4561}"/>
              </a:ext>
            </a:extLst>
          </p:cNvPr>
          <p:cNvSpPr/>
          <p:nvPr/>
        </p:nvSpPr>
        <p:spPr>
          <a:xfrm>
            <a:off x="1572882" y="5456747"/>
            <a:ext cx="342900" cy="165100"/>
          </a:xfrm>
          <a:prstGeom prst="roundRect">
            <a:avLst>
              <a:gd name="adj" fmla="val 50000"/>
            </a:avLst>
          </a:prstGeom>
          <a:solidFill>
            <a:srgbClr val="F4D70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57" name="אליפסה 56">
            <a:extLst>
              <a:ext uri="{FF2B5EF4-FFF2-40B4-BE49-F238E27FC236}">
                <a16:creationId xmlns:a16="http://schemas.microsoft.com/office/drawing/2014/main" id="{EE47E800-E3A0-411E-84BE-4F43E47F92FF}"/>
              </a:ext>
            </a:extLst>
          </p:cNvPr>
          <p:cNvSpPr/>
          <p:nvPr/>
        </p:nvSpPr>
        <p:spPr>
          <a:xfrm>
            <a:off x="1605425" y="5475004"/>
            <a:ext cx="127000" cy="127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58" name="תיבת טקסט 57">
            <a:extLst>
              <a:ext uri="{FF2B5EF4-FFF2-40B4-BE49-F238E27FC236}">
                <a16:creationId xmlns:a16="http://schemas.microsoft.com/office/drawing/2014/main" id="{C60C2A3A-AF43-45CC-AABD-23B343E3C8F9}"/>
              </a:ext>
            </a:extLst>
          </p:cNvPr>
          <p:cNvSpPr txBox="1"/>
          <p:nvPr/>
        </p:nvSpPr>
        <p:spPr>
          <a:xfrm>
            <a:off x="2004682" y="5367847"/>
            <a:ext cx="3594100" cy="1651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1000" b="1" dirty="0">
                <a:solidFill>
                  <a:srgbClr val="FFFFFF"/>
                </a:solidFill>
              </a:rPr>
              <a:t>קבל גרסאות בטא למשחק זה</a:t>
            </a:r>
          </a:p>
        </p:txBody>
      </p:sp>
      <p:sp>
        <p:nvSpPr>
          <p:cNvPr id="59" name="תיבת טקסט 58">
            <a:extLst>
              <a:ext uri="{FF2B5EF4-FFF2-40B4-BE49-F238E27FC236}">
                <a16:creationId xmlns:a16="http://schemas.microsoft.com/office/drawing/2014/main" id="{2E5BC1A5-1A30-4301-B6D1-87C5E8EC53A0}"/>
              </a:ext>
            </a:extLst>
          </p:cNvPr>
          <p:cNvSpPr txBox="1"/>
          <p:nvPr/>
        </p:nvSpPr>
        <p:spPr>
          <a:xfrm>
            <a:off x="1991982" y="5551997"/>
            <a:ext cx="3594100" cy="18415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Autofit/>
          </a:bodyPr>
          <a:lstStyle/>
          <a:p>
            <a:r>
              <a:rPr lang="he-IL" sz="700" dirty="0">
                <a:solidFill>
                  <a:srgbClr val="9A93AB"/>
                </a:solidFill>
              </a:rPr>
              <a:t>גרסאות מוקדמות — חדשות יותר אך עשויות להיות פחות יציבות. ברירת המחדל (מהגדרות): מופעל!</a:t>
            </a:r>
          </a:p>
        </p:txBody>
      </p:sp>
    </p:spTree>
    <p:extLst>
      <p:ext uri="{BB962C8B-B14F-4D97-AF65-F5344CB8AC3E}">
        <p14:creationId xmlns:p14="http://schemas.microsoft.com/office/powerpoint/2010/main" val="860351118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ערכת נושא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ערכת נושא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C578C4B-DA7B-45DF-8A74-B87D14E825DA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7aac3e07-2976-4dce-b26f-53f3fcb47f8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519</Words>
  <Application>Microsoft Office PowerPoint</Application>
  <PresentationFormat>מסך רחב</PresentationFormat>
  <Paragraphs>149</Paragraphs>
  <Slides>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2</vt:i4>
      </vt:variant>
      <vt:variant>
        <vt:lpstr>כותרות שקופיות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ערכת נושא Office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נהוראי כהן</dc:creator>
  <cp:lastModifiedBy>נהוראי כהן</cp:lastModifiedBy>
  <cp:revision>7</cp:revision>
  <dcterms:created xsi:type="dcterms:W3CDTF">2026-06-26T16:32:37Z</dcterms:created>
  <dcterms:modified xsi:type="dcterms:W3CDTF">2026-06-27T22:34:37Z</dcterms:modified>
</cp:coreProperties>
</file>